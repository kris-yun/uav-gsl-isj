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5240000" cy="9525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Original PMFS principle. Reference: Ojeda, Monroy and Gonzalez-Jimenez, Robotic Gas Source Localization with Probabilistic Mapping and Online Dispersion Simulation, IEEE Transactions on Robotics (2024), https://arxiv.org/html/2304.08879v3. The diagram summarizes Sections III–V, equations 7–12. Colored grids and traces are schematic, not measurements or experimental results. The source probability is normalized over candidate source cells; a gas-hit probability is a different quantity. Original planning uses confidence-modulated, source-weighted prediction variance, after an initial exploration phase. Current upstream code also contains later mutual-information changes; these are not depicted. This diagram does not claim guaranteed source identifiability. All shapes are native PPT objects, no generated or downloaded pictorial images are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00_TITLE__title"/>
          <p:cNvSpPr/>
          <p:nvPr/>
        </p:nvSpPr>
        <p:spPr>
          <a:xfrm>
            <a:off x="381000" y="257175"/>
            <a:ext cx="138112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000" b="1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PMFS: source localization by map comparison</a:t>
            </a:r>
            <a:endParaRPr sz="3000" b="1">
              <a:solidFill>
                <a:srgbClr val="233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94" name="08_ROUTES__predictions_to_comparison_port1"/>
          <p:cNvSpPr/>
          <p:nvPr/>
        </p:nvSpPr>
        <p:spPr>
          <a:xfrm>
            <a:off x="9162098" y="5618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95" name="08_ROUTES__predictions_to_comparison_port2"/>
          <p:cNvSpPr/>
          <p:nvPr/>
        </p:nvSpPr>
        <p:spPr>
          <a:xfrm>
            <a:off x="6199823" y="5618798"/>
            <a:ext cx="1905" cy="1905"/>
          </a:xfrm>
          <a:prstGeom prst="rect">
            <a:avLst/>
          </a:prstGeom>
          <a:noFill/>
          <a:ln w="0">
            <a:noFill/>
          </a:ln>
        </p:spPr>
      </p:sp>
      <p:grpSp>
        <p:nvGrpSpPr>
          <p:cNvPr id="699" name="03_PREDICTIONS_ASSEMBLY"/>
          <p:cNvGrpSpPr/>
          <p:nvPr/>
        </p:nvGrpSpPr>
        <p:grpSpPr>
          <a:xfrm>
            <a:off x="6238875" y="1057275"/>
            <a:ext cx="8620125" cy="4372928"/>
            <a:chOff x="6238875" y="1057275"/>
            <a:chExt cx="8620125" cy="4372928"/>
          </a:xfrm>
        </p:grpSpPr>
        <p:sp>
          <p:nvSpPr>
            <p:cNvPr id="117" name="01_REGIONS__prediction_panel"/>
            <p:cNvSpPr/>
            <p:nvPr/>
          </p:nvSpPr>
          <p:spPr>
            <a:xfrm>
              <a:off x="6238875" y="1057275"/>
              <a:ext cx="8620125" cy="4371975"/>
            </a:xfrm>
            <a:prstGeom prst="roundRect">
              <a:avLst>
                <a:gd name="adj" fmla="val 3922"/>
              </a:avLst>
            </a:prstGeom>
            <a:solidFill>
              <a:srgbClr val="EEF6F3"/>
            </a:solidFill>
            <a:ln w="0">
              <a:noFill/>
            </a:ln>
          </p:spPr>
        </p:sp>
        <p:sp>
          <p:nvSpPr>
            <p:cNvPr id="118" name="03_PREDICTIONS__prediction_letter"/>
            <p:cNvSpPr/>
            <p:nvPr/>
          </p:nvSpPr>
          <p:spPr>
            <a:xfrm>
              <a:off x="6448425" y="1238250"/>
              <a:ext cx="295275" cy="3524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75" b="1">
                  <a:solidFill>
                    <a:srgbClr val="26847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2175" b="1">
                  <a:solidFill>
                    <a:srgbClr val="26847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</a:t>
              </a:r>
              <a:endParaRPr sz="2175" b="1">
                <a:solidFill>
                  <a:srgbClr val="26847D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19" name="03_PREDICTIONS__prediction_heading"/>
            <p:cNvSpPr/>
            <p:nvPr/>
          </p:nvSpPr>
          <p:spPr>
            <a:xfrm>
              <a:off x="6829425" y="1238250"/>
              <a:ext cx="7810500" cy="3524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75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2175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Online candidate-source predictions</a:t>
              </a:r>
              <a:endParaRPr sz="2175" b="1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525" name="03_PREDICTIONS__component_wind"/>
            <p:cNvGrpSpPr/>
            <p:nvPr/>
          </p:nvGrpSpPr>
          <p:grpSpPr>
            <a:xfrm>
              <a:off x="6486525" y="1752600"/>
              <a:ext cx="2762250" cy="2000250"/>
              <a:chOff x="6486525" y="1752600"/>
              <a:chExt cx="2762250" cy="2000250"/>
            </a:xfrm>
          </p:grpSpPr>
          <p:sp>
            <p:nvSpPr>
              <p:cNvPr id="120" name="03_PREDICTIONS__wind_inputs"/>
              <p:cNvSpPr/>
              <p:nvPr/>
            </p:nvSpPr>
            <p:spPr>
              <a:xfrm>
                <a:off x="6486525" y="1752600"/>
                <a:ext cx="2762250" cy="3143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875" b="1">
                    <a:solidFill>
                      <a:srgbClr val="23344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sz="1875" b="1">
                    <a:solidFill>
                      <a:srgbClr val="23344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Local wind + floor plan</a:t>
                </a:r>
                <a:endParaRPr sz="1875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1" name="03_PREDICTIONS__wind_r0c0"/>
              <p:cNvSpPr/>
              <p:nvPr/>
            </p:nvSpPr>
            <p:spPr>
              <a:xfrm>
                <a:off x="6496050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22" name="03_PREDICTIONS__wind_r0c1"/>
              <p:cNvSpPr/>
              <p:nvPr/>
            </p:nvSpPr>
            <p:spPr>
              <a:xfrm>
                <a:off x="6715125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23" name="03_PREDICTIONS__wind_r0c2"/>
              <p:cNvSpPr/>
              <p:nvPr/>
            </p:nvSpPr>
            <p:spPr>
              <a:xfrm>
                <a:off x="6934200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24" name="03_PREDICTIONS__wind_r0c3"/>
              <p:cNvSpPr/>
              <p:nvPr/>
            </p:nvSpPr>
            <p:spPr>
              <a:xfrm>
                <a:off x="7153275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25" name="03_PREDICTIONS__wind_r0c4"/>
              <p:cNvSpPr/>
              <p:nvPr/>
            </p:nvSpPr>
            <p:spPr>
              <a:xfrm>
                <a:off x="7372350" y="2219325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26" name="03_PREDICTIONS__wind_r0c5"/>
              <p:cNvSpPr/>
              <p:nvPr/>
            </p:nvSpPr>
            <p:spPr>
              <a:xfrm>
                <a:off x="7591425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27" name="03_PREDICTIONS__wind_r0c6"/>
              <p:cNvSpPr/>
              <p:nvPr/>
            </p:nvSpPr>
            <p:spPr>
              <a:xfrm>
                <a:off x="7810500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28" name="03_PREDICTIONS__wind_r0c7"/>
              <p:cNvSpPr/>
              <p:nvPr/>
            </p:nvSpPr>
            <p:spPr>
              <a:xfrm>
                <a:off x="8029575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29" name="03_PREDICTIONS__wind_r0c8"/>
              <p:cNvSpPr/>
              <p:nvPr/>
            </p:nvSpPr>
            <p:spPr>
              <a:xfrm>
                <a:off x="8248650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30" name="03_PREDICTIONS__wind_r0c9"/>
              <p:cNvSpPr/>
              <p:nvPr/>
            </p:nvSpPr>
            <p:spPr>
              <a:xfrm>
                <a:off x="8467725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31" name="03_PREDICTIONS__wind_r1c0"/>
              <p:cNvSpPr/>
              <p:nvPr/>
            </p:nvSpPr>
            <p:spPr>
              <a:xfrm>
                <a:off x="6496050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32" name="03_PREDICTIONS__wind_r1c1"/>
              <p:cNvSpPr/>
              <p:nvPr/>
            </p:nvSpPr>
            <p:spPr>
              <a:xfrm>
                <a:off x="6715125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33" name="03_PREDICTIONS__wind_r1c2"/>
              <p:cNvSpPr/>
              <p:nvPr/>
            </p:nvSpPr>
            <p:spPr>
              <a:xfrm>
                <a:off x="6934200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34" name="03_PREDICTIONS__wind_r1c3"/>
              <p:cNvSpPr/>
              <p:nvPr/>
            </p:nvSpPr>
            <p:spPr>
              <a:xfrm>
                <a:off x="7153275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35" name="03_PREDICTIONS__wind_r1c4"/>
              <p:cNvSpPr/>
              <p:nvPr/>
            </p:nvSpPr>
            <p:spPr>
              <a:xfrm>
                <a:off x="7372350" y="2438400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36" name="03_PREDICTIONS__wind_r1c5"/>
              <p:cNvSpPr/>
              <p:nvPr/>
            </p:nvSpPr>
            <p:spPr>
              <a:xfrm>
                <a:off x="7591425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37" name="03_PREDICTIONS__wind_r1c6"/>
              <p:cNvSpPr/>
              <p:nvPr/>
            </p:nvSpPr>
            <p:spPr>
              <a:xfrm>
                <a:off x="7810500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38" name="03_PREDICTIONS__wind_r1c7"/>
              <p:cNvSpPr/>
              <p:nvPr/>
            </p:nvSpPr>
            <p:spPr>
              <a:xfrm>
                <a:off x="8029575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39" name="03_PREDICTIONS__wind_r1c8"/>
              <p:cNvSpPr/>
              <p:nvPr/>
            </p:nvSpPr>
            <p:spPr>
              <a:xfrm>
                <a:off x="8248650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40" name="03_PREDICTIONS__wind_r1c9"/>
              <p:cNvSpPr/>
              <p:nvPr/>
            </p:nvSpPr>
            <p:spPr>
              <a:xfrm>
                <a:off x="8467725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41" name="03_PREDICTIONS__wind_r2c0"/>
              <p:cNvSpPr/>
              <p:nvPr/>
            </p:nvSpPr>
            <p:spPr>
              <a:xfrm>
                <a:off x="6496050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42" name="03_PREDICTIONS__wind_r2c1"/>
              <p:cNvSpPr/>
              <p:nvPr/>
            </p:nvSpPr>
            <p:spPr>
              <a:xfrm>
                <a:off x="6715125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43" name="03_PREDICTIONS__wind_r2c2"/>
              <p:cNvSpPr/>
              <p:nvPr/>
            </p:nvSpPr>
            <p:spPr>
              <a:xfrm>
                <a:off x="6934200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44" name="03_PREDICTIONS__wind_r2c3"/>
              <p:cNvSpPr/>
              <p:nvPr/>
            </p:nvSpPr>
            <p:spPr>
              <a:xfrm>
                <a:off x="7153275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45" name="03_PREDICTIONS__wind_r2c4"/>
              <p:cNvSpPr/>
              <p:nvPr/>
            </p:nvSpPr>
            <p:spPr>
              <a:xfrm>
                <a:off x="7372350" y="2657475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46" name="03_PREDICTIONS__wind_r2c5"/>
              <p:cNvSpPr/>
              <p:nvPr/>
            </p:nvSpPr>
            <p:spPr>
              <a:xfrm>
                <a:off x="7591425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47" name="03_PREDICTIONS__wind_r2c6"/>
              <p:cNvSpPr/>
              <p:nvPr/>
            </p:nvSpPr>
            <p:spPr>
              <a:xfrm>
                <a:off x="7810500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48" name="03_PREDICTIONS__wind_r2c7"/>
              <p:cNvSpPr/>
              <p:nvPr/>
            </p:nvSpPr>
            <p:spPr>
              <a:xfrm>
                <a:off x="8029575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49" name="03_PREDICTIONS__wind_r2c8"/>
              <p:cNvSpPr/>
              <p:nvPr/>
            </p:nvSpPr>
            <p:spPr>
              <a:xfrm>
                <a:off x="8248650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50" name="03_PREDICTIONS__wind_r2c9"/>
              <p:cNvSpPr/>
              <p:nvPr/>
            </p:nvSpPr>
            <p:spPr>
              <a:xfrm>
                <a:off x="8467725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51" name="03_PREDICTIONS__wind_r3c0"/>
              <p:cNvSpPr/>
              <p:nvPr/>
            </p:nvSpPr>
            <p:spPr>
              <a:xfrm>
                <a:off x="6496050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52" name="03_PREDICTIONS__wind_r3c1"/>
              <p:cNvSpPr/>
              <p:nvPr/>
            </p:nvSpPr>
            <p:spPr>
              <a:xfrm>
                <a:off x="6715125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53" name="03_PREDICTIONS__wind_r3c2"/>
              <p:cNvSpPr/>
              <p:nvPr/>
            </p:nvSpPr>
            <p:spPr>
              <a:xfrm>
                <a:off x="6934200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54" name="03_PREDICTIONS__wind_r3c3"/>
              <p:cNvSpPr/>
              <p:nvPr/>
            </p:nvSpPr>
            <p:spPr>
              <a:xfrm>
                <a:off x="7153275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55" name="03_PREDICTIONS__wind_r3c4"/>
              <p:cNvSpPr/>
              <p:nvPr/>
            </p:nvSpPr>
            <p:spPr>
              <a:xfrm>
                <a:off x="7372350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56" name="03_PREDICTIONS__wind_r3c5"/>
              <p:cNvSpPr/>
              <p:nvPr/>
            </p:nvSpPr>
            <p:spPr>
              <a:xfrm>
                <a:off x="7591425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57" name="03_PREDICTIONS__wind_r3c6"/>
              <p:cNvSpPr/>
              <p:nvPr/>
            </p:nvSpPr>
            <p:spPr>
              <a:xfrm>
                <a:off x="7810500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58" name="03_PREDICTIONS__wind_r3c7"/>
              <p:cNvSpPr/>
              <p:nvPr/>
            </p:nvSpPr>
            <p:spPr>
              <a:xfrm>
                <a:off x="8029575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59" name="03_PREDICTIONS__wind_r3c8"/>
              <p:cNvSpPr/>
              <p:nvPr/>
            </p:nvSpPr>
            <p:spPr>
              <a:xfrm>
                <a:off x="8248650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60" name="03_PREDICTIONS__wind_r3c9"/>
              <p:cNvSpPr/>
              <p:nvPr/>
            </p:nvSpPr>
            <p:spPr>
              <a:xfrm>
                <a:off x="8467725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61" name="03_PREDICTIONS__wind_r4c0"/>
              <p:cNvSpPr/>
              <p:nvPr/>
            </p:nvSpPr>
            <p:spPr>
              <a:xfrm>
                <a:off x="6496050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62" name="03_PREDICTIONS__wind_r4c1"/>
              <p:cNvSpPr/>
              <p:nvPr/>
            </p:nvSpPr>
            <p:spPr>
              <a:xfrm>
                <a:off x="6715125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63" name="03_PREDICTIONS__wind_r4c2"/>
              <p:cNvSpPr/>
              <p:nvPr/>
            </p:nvSpPr>
            <p:spPr>
              <a:xfrm>
                <a:off x="6934200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64" name="03_PREDICTIONS__wind_r4c3"/>
              <p:cNvSpPr/>
              <p:nvPr/>
            </p:nvSpPr>
            <p:spPr>
              <a:xfrm>
                <a:off x="7153275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65" name="03_PREDICTIONS__wind_r4c4"/>
              <p:cNvSpPr/>
              <p:nvPr/>
            </p:nvSpPr>
            <p:spPr>
              <a:xfrm>
                <a:off x="7372350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66" name="03_PREDICTIONS__wind_r4c5"/>
              <p:cNvSpPr/>
              <p:nvPr/>
            </p:nvSpPr>
            <p:spPr>
              <a:xfrm>
                <a:off x="7591425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67" name="03_PREDICTIONS__wind_r4c6"/>
              <p:cNvSpPr/>
              <p:nvPr/>
            </p:nvSpPr>
            <p:spPr>
              <a:xfrm>
                <a:off x="7810500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68" name="03_PREDICTIONS__wind_r4c7"/>
              <p:cNvSpPr/>
              <p:nvPr/>
            </p:nvSpPr>
            <p:spPr>
              <a:xfrm>
                <a:off x="8029575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69" name="03_PREDICTIONS__wind_r4c8"/>
              <p:cNvSpPr/>
              <p:nvPr/>
            </p:nvSpPr>
            <p:spPr>
              <a:xfrm>
                <a:off x="8248650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70" name="03_PREDICTIONS__wind_r4c9"/>
              <p:cNvSpPr/>
              <p:nvPr/>
            </p:nvSpPr>
            <p:spPr>
              <a:xfrm>
                <a:off x="8467725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71" name="03_PREDICTIONS__wind_r5c0"/>
              <p:cNvSpPr/>
              <p:nvPr/>
            </p:nvSpPr>
            <p:spPr>
              <a:xfrm>
                <a:off x="6496050" y="33147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72" name="03_PREDICTIONS__wind_r5c1"/>
              <p:cNvSpPr/>
              <p:nvPr/>
            </p:nvSpPr>
            <p:spPr>
              <a:xfrm>
                <a:off x="6715125" y="33147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73" name="03_PREDICTIONS__wind_r5c2"/>
              <p:cNvSpPr/>
              <p:nvPr/>
            </p:nvSpPr>
            <p:spPr>
              <a:xfrm>
                <a:off x="6934200" y="33147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74" name="03_PREDICTIONS__wind_r5c3"/>
              <p:cNvSpPr/>
              <p:nvPr/>
            </p:nvSpPr>
            <p:spPr>
              <a:xfrm>
                <a:off x="7153275" y="33147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75" name="03_PREDICTIONS__wind_r5c4"/>
              <p:cNvSpPr/>
              <p:nvPr/>
            </p:nvSpPr>
            <p:spPr>
              <a:xfrm>
                <a:off x="7372350" y="3314700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76" name="03_PREDICTIONS__wind_r5c5"/>
              <p:cNvSpPr/>
              <p:nvPr/>
            </p:nvSpPr>
            <p:spPr>
              <a:xfrm>
                <a:off x="7591425" y="33147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77" name="03_PREDICTIONS__wind_r5c6"/>
              <p:cNvSpPr/>
              <p:nvPr/>
            </p:nvSpPr>
            <p:spPr>
              <a:xfrm>
                <a:off x="7810500" y="33147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78" name="03_PREDICTIONS__wind_r5c7"/>
              <p:cNvSpPr/>
              <p:nvPr/>
            </p:nvSpPr>
            <p:spPr>
              <a:xfrm>
                <a:off x="8029575" y="3314700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79" name="03_PREDICTIONS__wind_r5c8"/>
              <p:cNvSpPr/>
              <p:nvPr/>
            </p:nvSpPr>
            <p:spPr>
              <a:xfrm>
                <a:off x="8248650" y="3314700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80" name="03_PREDICTIONS__wind_r5c9"/>
              <p:cNvSpPr/>
              <p:nvPr/>
            </p:nvSpPr>
            <p:spPr>
              <a:xfrm>
                <a:off x="8467725" y="3314700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81" name="03_PREDICTIONS__wind_r6c0"/>
              <p:cNvSpPr/>
              <p:nvPr/>
            </p:nvSpPr>
            <p:spPr>
              <a:xfrm>
                <a:off x="6496050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82" name="03_PREDICTIONS__wind_r6c1"/>
              <p:cNvSpPr/>
              <p:nvPr/>
            </p:nvSpPr>
            <p:spPr>
              <a:xfrm>
                <a:off x="6715125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83" name="03_PREDICTIONS__wind_r6c2"/>
              <p:cNvSpPr/>
              <p:nvPr/>
            </p:nvSpPr>
            <p:spPr>
              <a:xfrm>
                <a:off x="6934200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84" name="03_PREDICTIONS__wind_r6c3"/>
              <p:cNvSpPr/>
              <p:nvPr/>
            </p:nvSpPr>
            <p:spPr>
              <a:xfrm>
                <a:off x="7153275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85" name="03_PREDICTIONS__wind_r6c4"/>
              <p:cNvSpPr/>
              <p:nvPr/>
            </p:nvSpPr>
            <p:spPr>
              <a:xfrm>
                <a:off x="7372350" y="3533775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86" name="03_PREDICTIONS__wind_r6c5"/>
              <p:cNvSpPr/>
              <p:nvPr/>
            </p:nvSpPr>
            <p:spPr>
              <a:xfrm>
                <a:off x="7591425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87" name="03_PREDICTIONS__wind_r6c6"/>
              <p:cNvSpPr/>
              <p:nvPr/>
            </p:nvSpPr>
            <p:spPr>
              <a:xfrm>
                <a:off x="7810500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88" name="03_PREDICTIONS__wind_r6c7"/>
              <p:cNvSpPr/>
              <p:nvPr/>
            </p:nvSpPr>
            <p:spPr>
              <a:xfrm>
                <a:off x="8029575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89" name="03_PREDICTIONS__wind_r6c8"/>
              <p:cNvSpPr/>
              <p:nvPr/>
            </p:nvSpPr>
            <p:spPr>
              <a:xfrm>
                <a:off x="8248650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90" name="03_PREDICTIONS__wind_r6c9"/>
              <p:cNvSpPr/>
              <p:nvPr/>
            </p:nvSpPr>
            <p:spPr>
              <a:xfrm>
                <a:off x="8467725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191" name="03_PREDICTIONS__wind_frame"/>
              <p:cNvSpPr/>
              <p:nvPr/>
            </p:nvSpPr>
            <p:spPr>
              <a:xfrm>
                <a:off x="6496050" y="2219325"/>
                <a:ext cx="2190750" cy="1533525"/>
              </a:xfrm>
              <a:prstGeom prst="rect">
                <a:avLst/>
              </a:prstGeom>
              <a:noFill/>
              <a:ln w="10478">
                <a:solidFill>
                  <a:srgbClr val="B6C4CC"/>
                </a:solidFill>
              </a:ln>
            </p:spPr>
          </p:sp>
          <p:sp>
            <p:nvSpPr>
              <p:cNvPr id="192" name="03_PREDICTIONS__wind_0_0"/>
              <p:cNvSpPr/>
              <p:nvPr/>
            </p:nvSpPr>
            <p:spPr>
              <a:xfrm>
                <a:off x="6572250" y="2310765"/>
                <a:ext cx="133350" cy="2286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22860">
                    <a:moveTo>
                      <a:pt x="0" y="2286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193" name="03_PREDICTIONS__wind_0_0_head"/>
              <p:cNvSpPr/>
              <p:nvPr/>
            </p:nvSpPr>
            <p:spPr>
              <a:xfrm>
                <a:off x="6651178" y="2293319"/>
                <a:ext cx="54422" cy="52022"/>
              </a:xfrm>
              <a:custGeom>
                <a:avLst/>
                <a:gdLst/>
                <a:ahLst/>
                <a:cxnLst/>
                <a:rect l="0" t="0" r="0" b="0"/>
                <a:pathLst>
                  <a:path w="54422" h="52022">
                    <a:moveTo>
                      <a:pt x="8918" y="52022"/>
                    </a:moveTo>
                    <a:lnTo>
                      <a:pt x="54422" y="17446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194" name="03_PREDICTIONS__wind_0_2"/>
              <p:cNvSpPr/>
              <p:nvPr/>
            </p:nvSpPr>
            <p:spPr>
              <a:xfrm>
                <a:off x="7010400" y="2310765"/>
                <a:ext cx="133350" cy="2286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22860">
                    <a:moveTo>
                      <a:pt x="0" y="2286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195" name="03_PREDICTIONS__wind_0_2_head"/>
              <p:cNvSpPr/>
              <p:nvPr/>
            </p:nvSpPr>
            <p:spPr>
              <a:xfrm>
                <a:off x="7089328" y="2293319"/>
                <a:ext cx="54422" cy="52022"/>
              </a:xfrm>
              <a:custGeom>
                <a:avLst/>
                <a:gdLst/>
                <a:ahLst/>
                <a:cxnLst/>
                <a:rect l="0" t="0" r="0" b="0"/>
                <a:pathLst>
                  <a:path w="54422" h="52022">
                    <a:moveTo>
                      <a:pt x="8918" y="52022"/>
                    </a:moveTo>
                    <a:lnTo>
                      <a:pt x="54422" y="17446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196" name="03_PREDICTIONS__wind_0_6"/>
              <p:cNvSpPr/>
              <p:nvPr/>
            </p:nvSpPr>
            <p:spPr>
              <a:xfrm>
                <a:off x="7886700" y="2310765"/>
                <a:ext cx="133350" cy="2286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22860">
                    <a:moveTo>
                      <a:pt x="0" y="2286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197" name="03_PREDICTIONS__wind_0_6_head"/>
              <p:cNvSpPr/>
              <p:nvPr/>
            </p:nvSpPr>
            <p:spPr>
              <a:xfrm>
                <a:off x="7965628" y="2293319"/>
                <a:ext cx="54422" cy="52022"/>
              </a:xfrm>
              <a:custGeom>
                <a:avLst/>
                <a:gdLst/>
                <a:ahLst/>
                <a:cxnLst/>
                <a:rect l="0" t="0" r="0" b="0"/>
                <a:pathLst>
                  <a:path w="54422" h="52022">
                    <a:moveTo>
                      <a:pt x="8918" y="52022"/>
                    </a:moveTo>
                    <a:lnTo>
                      <a:pt x="54422" y="17446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198" name="03_PREDICTIONS__wind_0_8"/>
              <p:cNvSpPr/>
              <p:nvPr/>
            </p:nvSpPr>
            <p:spPr>
              <a:xfrm>
                <a:off x="8324850" y="2310765"/>
                <a:ext cx="133350" cy="2286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22860">
                    <a:moveTo>
                      <a:pt x="0" y="2286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199" name="03_PREDICTIONS__wind_0_8_head"/>
              <p:cNvSpPr/>
              <p:nvPr/>
            </p:nvSpPr>
            <p:spPr>
              <a:xfrm>
                <a:off x="8403778" y="2293319"/>
                <a:ext cx="54422" cy="52022"/>
              </a:xfrm>
              <a:custGeom>
                <a:avLst/>
                <a:gdLst/>
                <a:ahLst/>
                <a:cxnLst/>
                <a:rect l="0" t="0" r="0" b="0"/>
                <a:pathLst>
                  <a:path w="54422" h="52022">
                    <a:moveTo>
                      <a:pt x="8918" y="52022"/>
                    </a:moveTo>
                    <a:lnTo>
                      <a:pt x="54422" y="17446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00" name="03_PREDICTIONS__wind_2_0"/>
              <p:cNvSpPr/>
              <p:nvPr/>
            </p:nvSpPr>
            <p:spPr>
              <a:xfrm>
                <a:off x="6572250" y="2764155"/>
                <a:ext cx="133350" cy="762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7620">
                    <a:moveTo>
                      <a:pt x="0" y="762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01" name="03_PREDICTIONS__wind_2_0_head"/>
              <p:cNvSpPr/>
              <p:nvPr/>
            </p:nvSpPr>
            <p:spPr>
              <a:xfrm>
                <a:off x="6653485" y="2740699"/>
                <a:ext cx="52115" cy="52695"/>
              </a:xfrm>
              <a:custGeom>
                <a:avLst/>
                <a:gdLst/>
                <a:ahLst/>
                <a:cxnLst/>
                <a:rect l="0" t="0" r="0" b="0"/>
                <a:pathLst>
                  <a:path w="52115" h="52695">
                    <a:moveTo>
                      <a:pt x="3011" y="52695"/>
                    </a:moveTo>
                    <a:lnTo>
                      <a:pt x="52115" y="23456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02" name="03_PREDICTIONS__wind_2_2"/>
              <p:cNvSpPr/>
              <p:nvPr/>
            </p:nvSpPr>
            <p:spPr>
              <a:xfrm>
                <a:off x="7010400" y="2764155"/>
                <a:ext cx="133350" cy="762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7620">
                    <a:moveTo>
                      <a:pt x="0" y="762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03" name="03_PREDICTIONS__wind_2_2_head"/>
              <p:cNvSpPr/>
              <p:nvPr/>
            </p:nvSpPr>
            <p:spPr>
              <a:xfrm>
                <a:off x="7091635" y="2740699"/>
                <a:ext cx="52115" cy="52695"/>
              </a:xfrm>
              <a:custGeom>
                <a:avLst/>
                <a:gdLst/>
                <a:ahLst/>
                <a:cxnLst/>
                <a:rect l="0" t="0" r="0" b="0"/>
                <a:pathLst>
                  <a:path w="52115" h="52695">
                    <a:moveTo>
                      <a:pt x="3011" y="52695"/>
                    </a:moveTo>
                    <a:lnTo>
                      <a:pt x="52115" y="23456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04" name="03_PREDICTIONS__wind_2_6"/>
              <p:cNvSpPr/>
              <p:nvPr/>
            </p:nvSpPr>
            <p:spPr>
              <a:xfrm>
                <a:off x="7886700" y="2764155"/>
                <a:ext cx="133350" cy="762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7620">
                    <a:moveTo>
                      <a:pt x="0" y="762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05" name="03_PREDICTIONS__wind_2_6_head"/>
              <p:cNvSpPr/>
              <p:nvPr/>
            </p:nvSpPr>
            <p:spPr>
              <a:xfrm>
                <a:off x="7967935" y="2740699"/>
                <a:ext cx="52115" cy="52695"/>
              </a:xfrm>
              <a:custGeom>
                <a:avLst/>
                <a:gdLst/>
                <a:ahLst/>
                <a:cxnLst/>
                <a:rect l="0" t="0" r="0" b="0"/>
                <a:pathLst>
                  <a:path w="52115" h="52695">
                    <a:moveTo>
                      <a:pt x="3011" y="52695"/>
                    </a:moveTo>
                    <a:lnTo>
                      <a:pt x="52115" y="23456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06" name="03_PREDICTIONS__wind_2_8"/>
              <p:cNvSpPr/>
              <p:nvPr/>
            </p:nvSpPr>
            <p:spPr>
              <a:xfrm>
                <a:off x="8324850" y="2764155"/>
                <a:ext cx="133350" cy="762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7620">
                    <a:moveTo>
                      <a:pt x="0" y="762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07" name="03_PREDICTIONS__wind_2_8_head"/>
              <p:cNvSpPr/>
              <p:nvPr/>
            </p:nvSpPr>
            <p:spPr>
              <a:xfrm>
                <a:off x="8406085" y="2740699"/>
                <a:ext cx="52115" cy="52695"/>
              </a:xfrm>
              <a:custGeom>
                <a:avLst/>
                <a:gdLst/>
                <a:ahLst/>
                <a:cxnLst/>
                <a:rect l="0" t="0" r="0" b="0"/>
                <a:pathLst>
                  <a:path w="52115" h="52695">
                    <a:moveTo>
                      <a:pt x="3011" y="52695"/>
                    </a:moveTo>
                    <a:lnTo>
                      <a:pt x="52115" y="23456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08" name="03_PREDICTIONS__wind_4_0"/>
              <p:cNvSpPr/>
              <p:nvPr/>
            </p:nvSpPr>
            <p:spPr>
              <a:xfrm>
                <a:off x="6572250" y="3209925"/>
                <a:ext cx="133350" cy="762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7620">
                    <a:moveTo>
                      <a:pt x="0" y="0"/>
                    </a:moveTo>
                    <a:lnTo>
                      <a:pt x="133350" y="762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09" name="03_PREDICTIONS__wind_4_0_head"/>
              <p:cNvSpPr/>
              <p:nvPr/>
            </p:nvSpPr>
            <p:spPr>
              <a:xfrm>
                <a:off x="6653485" y="3188305"/>
                <a:ext cx="52115" cy="52695"/>
              </a:xfrm>
              <a:custGeom>
                <a:avLst/>
                <a:gdLst/>
                <a:ahLst/>
                <a:cxnLst/>
                <a:rect l="0" t="0" r="0" b="0"/>
                <a:pathLst>
                  <a:path w="52115" h="52695">
                    <a:moveTo>
                      <a:pt x="0" y="52695"/>
                    </a:moveTo>
                    <a:lnTo>
                      <a:pt x="52115" y="29240"/>
                    </a:lnTo>
                    <a:lnTo>
                      <a:pt x="3011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10" name="03_PREDICTIONS__wind_4_2"/>
              <p:cNvSpPr/>
              <p:nvPr/>
            </p:nvSpPr>
            <p:spPr>
              <a:xfrm>
                <a:off x="7010400" y="3209925"/>
                <a:ext cx="133350" cy="762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7620">
                    <a:moveTo>
                      <a:pt x="0" y="0"/>
                    </a:moveTo>
                    <a:lnTo>
                      <a:pt x="133350" y="762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11" name="03_PREDICTIONS__wind_4_2_head"/>
              <p:cNvSpPr/>
              <p:nvPr/>
            </p:nvSpPr>
            <p:spPr>
              <a:xfrm>
                <a:off x="7091635" y="3188305"/>
                <a:ext cx="52115" cy="52695"/>
              </a:xfrm>
              <a:custGeom>
                <a:avLst/>
                <a:gdLst/>
                <a:ahLst/>
                <a:cxnLst/>
                <a:rect l="0" t="0" r="0" b="0"/>
                <a:pathLst>
                  <a:path w="52115" h="52695">
                    <a:moveTo>
                      <a:pt x="0" y="52695"/>
                    </a:moveTo>
                    <a:lnTo>
                      <a:pt x="52115" y="29240"/>
                    </a:lnTo>
                    <a:lnTo>
                      <a:pt x="3011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12" name="03_PREDICTIONS__wind_4_4"/>
              <p:cNvSpPr/>
              <p:nvPr/>
            </p:nvSpPr>
            <p:spPr>
              <a:xfrm>
                <a:off x="7448550" y="3209925"/>
                <a:ext cx="133350" cy="762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7620">
                    <a:moveTo>
                      <a:pt x="0" y="0"/>
                    </a:moveTo>
                    <a:lnTo>
                      <a:pt x="133350" y="762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13" name="03_PREDICTIONS__wind_4_4_head"/>
              <p:cNvSpPr/>
              <p:nvPr/>
            </p:nvSpPr>
            <p:spPr>
              <a:xfrm>
                <a:off x="7529785" y="3188305"/>
                <a:ext cx="52115" cy="52695"/>
              </a:xfrm>
              <a:custGeom>
                <a:avLst/>
                <a:gdLst/>
                <a:ahLst/>
                <a:cxnLst/>
                <a:rect l="0" t="0" r="0" b="0"/>
                <a:pathLst>
                  <a:path w="52115" h="52695">
                    <a:moveTo>
                      <a:pt x="0" y="52695"/>
                    </a:moveTo>
                    <a:lnTo>
                      <a:pt x="52115" y="29240"/>
                    </a:lnTo>
                    <a:lnTo>
                      <a:pt x="3011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14" name="03_PREDICTIONS__wind_4_6"/>
              <p:cNvSpPr/>
              <p:nvPr/>
            </p:nvSpPr>
            <p:spPr>
              <a:xfrm>
                <a:off x="7886700" y="3209925"/>
                <a:ext cx="133350" cy="762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7620">
                    <a:moveTo>
                      <a:pt x="0" y="0"/>
                    </a:moveTo>
                    <a:lnTo>
                      <a:pt x="133350" y="762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15" name="03_PREDICTIONS__wind_4_6_head"/>
              <p:cNvSpPr/>
              <p:nvPr/>
            </p:nvSpPr>
            <p:spPr>
              <a:xfrm>
                <a:off x="7967935" y="3188305"/>
                <a:ext cx="52115" cy="52695"/>
              </a:xfrm>
              <a:custGeom>
                <a:avLst/>
                <a:gdLst/>
                <a:ahLst/>
                <a:cxnLst/>
                <a:rect l="0" t="0" r="0" b="0"/>
                <a:pathLst>
                  <a:path w="52115" h="52695">
                    <a:moveTo>
                      <a:pt x="0" y="52695"/>
                    </a:moveTo>
                    <a:lnTo>
                      <a:pt x="52115" y="29240"/>
                    </a:lnTo>
                    <a:lnTo>
                      <a:pt x="3011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16" name="03_PREDICTIONS__wind_4_8"/>
              <p:cNvSpPr/>
              <p:nvPr/>
            </p:nvSpPr>
            <p:spPr>
              <a:xfrm>
                <a:off x="8324850" y="3209925"/>
                <a:ext cx="133350" cy="762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7620">
                    <a:moveTo>
                      <a:pt x="0" y="0"/>
                    </a:moveTo>
                    <a:lnTo>
                      <a:pt x="133350" y="762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17" name="03_PREDICTIONS__wind_4_8_head"/>
              <p:cNvSpPr/>
              <p:nvPr/>
            </p:nvSpPr>
            <p:spPr>
              <a:xfrm>
                <a:off x="8406085" y="3188305"/>
                <a:ext cx="52115" cy="52695"/>
              </a:xfrm>
              <a:custGeom>
                <a:avLst/>
                <a:gdLst/>
                <a:ahLst/>
                <a:cxnLst/>
                <a:rect l="0" t="0" r="0" b="0"/>
                <a:pathLst>
                  <a:path w="52115" h="52695">
                    <a:moveTo>
                      <a:pt x="0" y="52695"/>
                    </a:moveTo>
                    <a:lnTo>
                      <a:pt x="52115" y="29240"/>
                    </a:lnTo>
                    <a:lnTo>
                      <a:pt x="3011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18" name="03_PREDICTIONS__wind_6_0"/>
              <p:cNvSpPr/>
              <p:nvPr/>
            </p:nvSpPr>
            <p:spPr>
              <a:xfrm>
                <a:off x="6572250" y="3648075"/>
                <a:ext cx="133350" cy="2286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22860">
                    <a:moveTo>
                      <a:pt x="0" y="0"/>
                    </a:moveTo>
                    <a:lnTo>
                      <a:pt x="133350" y="2286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19" name="03_PREDICTIONS__wind_6_0_head"/>
              <p:cNvSpPr/>
              <p:nvPr/>
            </p:nvSpPr>
            <p:spPr>
              <a:xfrm>
                <a:off x="6651178" y="3636359"/>
                <a:ext cx="54422" cy="52022"/>
              </a:xfrm>
              <a:custGeom>
                <a:avLst/>
                <a:gdLst/>
                <a:ahLst/>
                <a:cxnLst/>
                <a:rect l="0" t="0" r="0" b="0"/>
                <a:pathLst>
                  <a:path w="54422" h="52022">
                    <a:moveTo>
                      <a:pt x="0" y="52022"/>
                    </a:moveTo>
                    <a:lnTo>
                      <a:pt x="54422" y="34576"/>
                    </a:lnTo>
                    <a:lnTo>
                      <a:pt x="8918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20" name="03_PREDICTIONS__wind_6_2"/>
              <p:cNvSpPr/>
              <p:nvPr/>
            </p:nvSpPr>
            <p:spPr>
              <a:xfrm>
                <a:off x="7010400" y="3648075"/>
                <a:ext cx="133350" cy="2286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22860">
                    <a:moveTo>
                      <a:pt x="0" y="0"/>
                    </a:moveTo>
                    <a:lnTo>
                      <a:pt x="133350" y="2286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21" name="03_PREDICTIONS__wind_6_2_head"/>
              <p:cNvSpPr/>
              <p:nvPr/>
            </p:nvSpPr>
            <p:spPr>
              <a:xfrm>
                <a:off x="7089328" y="3636359"/>
                <a:ext cx="54422" cy="52022"/>
              </a:xfrm>
              <a:custGeom>
                <a:avLst/>
                <a:gdLst/>
                <a:ahLst/>
                <a:cxnLst/>
                <a:rect l="0" t="0" r="0" b="0"/>
                <a:pathLst>
                  <a:path w="54422" h="52022">
                    <a:moveTo>
                      <a:pt x="0" y="52022"/>
                    </a:moveTo>
                    <a:lnTo>
                      <a:pt x="54422" y="34576"/>
                    </a:lnTo>
                    <a:lnTo>
                      <a:pt x="8918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22" name="03_PREDICTIONS__wind_6_6"/>
              <p:cNvSpPr/>
              <p:nvPr/>
            </p:nvSpPr>
            <p:spPr>
              <a:xfrm>
                <a:off x="7886700" y="3648075"/>
                <a:ext cx="133350" cy="2286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22860">
                    <a:moveTo>
                      <a:pt x="0" y="0"/>
                    </a:moveTo>
                    <a:lnTo>
                      <a:pt x="133350" y="2286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23" name="03_PREDICTIONS__wind_6_6_head"/>
              <p:cNvSpPr/>
              <p:nvPr/>
            </p:nvSpPr>
            <p:spPr>
              <a:xfrm>
                <a:off x="7965628" y="3636359"/>
                <a:ext cx="54422" cy="52022"/>
              </a:xfrm>
              <a:custGeom>
                <a:avLst/>
                <a:gdLst/>
                <a:ahLst/>
                <a:cxnLst/>
                <a:rect l="0" t="0" r="0" b="0"/>
                <a:pathLst>
                  <a:path w="54422" h="52022">
                    <a:moveTo>
                      <a:pt x="0" y="52022"/>
                    </a:moveTo>
                    <a:lnTo>
                      <a:pt x="54422" y="34576"/>
                    </a:lnTo>
                    <a:lnTo>
                      <a:pt x="8918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24" name="03_PREDICTIONS__wind_6_8"/>
              <p:cNvSpPr/>
              <p:nvPr/>
            </p:nvSpPr>
            <p:spPr>
              <a:xfrm>
                <a:off x="8324850" y="3648075"/>
                <a:ext cx="133350" cy="22860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22860">
                    <a:moveTo>
                      <a:pt x="0" y="0"/>
                    </a:moveTo>
                    <a:lnTo>
                      <a:pt x="133350" y="2286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  <p:sp>
            <p:nvSpPr>
              <p:cNvPr id="225" name="03_PREDICTIONS__wind_6_8_head"/>
              <p:cNvSpPr/>
              <p:nvPr/>
            </p:nvSpPr>
            <p:spPr>
              <a:xfrm>
                <a:off x="8403778" y="3636359"/>
                <a:ext cx="54422" cy="52022"/>
              </a:xfrm>
              <a:custGeom>
                <a:avLst/>
                <a:gdLst/>
                <a:ahLst/>
                <a:cxnLst/>
                <a:rect l="0" t="0" r="0" b="0"/>
                <a:pathLst>
                  <a:path w="54422" h="52022">
                    <a:moveTo>
                      <a:pt x="0" y="52022"/>
                    </a:moveTo>
                    <a:lnTo>
                      <a:pt x="54422" y="34576"/>
                    </a:lnTo>
                    <a:lnTo>
                      <a:pt x="8918" y="0"/>
                    </a:lnTo>
                  </a:path>
                </a:pathLst>
              </a:custGeom>
              <a:noFill/>
              <a:ln w="19050">
                <a:solidFill>
                  <a:srgbClr val="26847D"/>
                </a:solidFill>
                <a:prstDash val="solid"/>
              </a:ln>
            </p:spPr>
          </p:sp>
        </p:grpSp>
        <p:sp>
          <p:nvSpPr>
            <p:cNvPr id="226" name="03_PREDICTIONS__wind_field"/>
            <p:cNvSpPr/>
            <p:nvPr/>
          </p:nvSpPr>
          <p:spPr>
            <a:xfrm>
              <a:off x="6457950" y="3886200"/>
              <a:ext cx="2647950" cy="3143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875" b="0">
                  <a:solidFill>
                    <a:srgbClr val="26847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75" b="0">
                  <a:solidFill>
                    <a:srgbClr val="26847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GMRF wind estimate</a:t>
              </a:r>
              <a:endParaRPr sz="1875" b="0">
                <a:solidFill>
                  <a:srgbClr val="26847D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7" name="03_PREDICTIONS__filament_title"/>
            <p:cNvSpPr/>
            <p:nvPr/>
          </p:nvSpPr>
          <p:spPr>
            <a:xfrm>
              <a:off x="9210675" y="1752600"/>
              <a:ext cx="2505075" cy="3143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75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75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2D filament model</a:t>
              </a:r>
              <a:endParaRPr sz="1875" b="1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531" name="03_PREDICTIONS__component_filament"/>
            <p:cNvGrpSpPr/>
            <p:nvPr/>
          </p:nvGrpSpPr>
          <p:grpSpPr>
            <a:xfrm>
              <a:off x="9229725" y="2219325"/>
              <a:ext cx="2190750" cy="1533525"/>
              <a:chOff x="9229725" y="2219325"/>
              <a:chExt cx="2190750" cy="1533525"/>
            </a:xfrm>
          </p:grpSpPr>
          <p:sp>
            <p:nvSpPr>
              <p:cNvPr id="228" name="03_PREDICTIONS__filament_r0c0"/>
              <p:cNvSpPr/>
              <p:nvPr/>
            </p:nvSpPr>
            <p:spPr>
              <a:xfrm>
                <a:off x="9229725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29" name="03_PREDICTIONS__filament_r0c1"/>
              <p:cNvSpPr/>
              <p:nvPr/>
            </p:nvSpPr>
            <p:spPr>
              <a:xfrm>
                <a:off x="9448800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30" name="03_PREDICTIONS__filament_r0c2"/>
              <p:cNvSpPr/>
              <p:nvPr/>
            </p:nvSpPr>
            <p:spPr>
              <a:xfrm>
                <a:off x="9667875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31" name="03_PREDICTIONS__filament_r0c3"/>
              <p:cNvSpPr/>
              <p:nvPr/>
            </p:nvSpPr>
            <p:spPr>
              <a:xfrm>
                <a:off x="9886950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32" name="03_PREDICTIONS__filament_r0c4"/>
              <p:cNvSpPr/>
              <p:nvPr/>
            </p:nvSpPr>
            <p:spPr>
              <a:xfrm>
                <a:off x="10106025" y="2219325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33" name="03_PREDICTIONS__filament_r0c5"/>
              <p:cNvSpPr/>
              <p:nvPr/>
            </p:nvSpPr>
            <p:spPr>
              <a:xfrm>
                <a:off x="10325100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34" name="03_PREDICTIONS__filament_r0c6"/>
              <p:cNvSpPr/>
              <p:nvPr/>
            </p:nvSpPr>
            <p:spPr>
              <a:xfrm>
                <a:off x="10544175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35" name="03_PREDICTIONS__filament_r0c7"/>
              <p:cNvSpPr/>
              <p:nvPr/>
            </p:nvSpPr>
            <p:spPr>
              <a:xfrm>
                <a:off x="10763250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36" name="03_PREDICTIONS__filament_r0c8"/>
              <p:cNvSpPr/>
              <p:nvPr/>
            </p:nvSpPr>
            <p:spPr>
              <a:xfrm>
                <a:off x="10982325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37" name="03_PREDICTIONS__filament_r0c9"/>
              <p:cNvSpPr/>
              <p:nvPr/>
            </p:nvSpPr>
            <p:spPr>
              <a:xfrm>
                <a:off x="11201400" y="22193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38" name="03_PREDICTIONS__filament_r1c0"/>
              <p:cNvSpPr/>
              <p:nvPr/>
            </p:nvSpPr>
            <p:spPr>
              <a:xfrm>
                <a:off x="9229725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39" name="03_PREDICTIONS__filament_r1c1"/>
              <p:cNvSpPr/>
              <p:nvPr/>
            </p:nvSpPr>
            <p:spPr>
              <a:xfrm>
                <a:off x="9448800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40" name="03_PREDICTIONS__filament_r1c2"/>
              <p:cNvSpPr/>
              <p:nvPr/>
            </p:nvSpPr>
            <p:spPr>
              <a:xfrm>
                <a:off x="9667875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41" name="03_PREDICTIONS__filament_r1c3"/>
              <p:cNvSpPr/>
              <p:nvPr/>
            </p:nvSpPr>
            <p:spPr>
              <a:xfrm>
                <a:off x="9886950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42" name="03_PREDICTIONS__filament_r1c4"/>
              <p:cNvSpPr/>
              <p:nvPr/>
            </p:nvSpPr>
            <p:spPr>
              <a:xfrm>
                <a:off x="10106025" y="2438400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43" name="03_PREDICTIONS__filament_r1c5"/>
              <p:cNvSpPr/>
              <p:nvPr/>
            </p:nvSpPr>
            <p:spPr>
              <a:xfrm>
                <a:off x="10325100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44" name="03_PREDICTIONS__filament_r1c6"/>
              <p:cNvSpPr/>
              <p:nvPr/>
            </p:nvSpPr>
            <p:spPr>
              <a:xfrm>
                <a:off x="10544175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45" name="03_PREDICTIONS__filament_r1c7"/>
              <p:cNvSpPr/>
              <p:nvPr/>
            </p:nvSpPr>
            <p:spPr>
              <a:xfrm>
                <a:off x="10763250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46" name="03_PREDICTIONS__filament_r1c8"/>
              <p:cNvSpPr/>
              <p:nvPr/>
            </p:nvSpPr>
            <p:spPr>
              <a:xfrm>
                <a:off x="10982325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47" name="03_PREDICTIONS__filament_r1c9"/>
              <p:cNvSpPr/>
              <p:nvPr/>
            </p:nvSpPr>
            <p:spPr>
              <a:xfrm>
                <a:off x="11201400" y="24384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48" name="03_PREDICTIONS__filament_r2c0"/>
              <p:cNvSpPr/>
              <p:nvPr/>
            </p:nvSpPr>
            <p:spPr>
              <a:xfrm>
                <a:off x="9229725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49" name="03_PREDICTIONS__filament_r2c1"/>
              <p:cNvSpPr/>
              <p:nvPr/>
            </p:nvSpPr>
            <p:spPr>
              <a:xfrm>
                <a:off x="9448800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50" name="03_PREDICTIONS__filament_r2c2"/>
              <p:cNvSpPr/>
              <p:nvPr/>
            </p:nvSpPr>
            <p:spPr>
              <a:xfrm>
                <a:off x="9667875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51" name="03_PREDICTIONS__filament_r2c3"/>
              <p:cNvSpPr/>
              <p:nvPr/>
            </p:nvSpPr>
            <p:spPr>
              <a:xfrm>
                <a:off x="9886950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52" name="03_PREDICTIONS__filament_r2c4"/>
              <p:cNvSpPr/>
              <p:nvPr/>
            </p:nvSpPr>
            <p:spPr>
              <a:xfrm>
                <a:off x="10106025" y="2657475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53" name="03_PREDICTIONS__filament_r2c5"/>
              <p:cNvSpPr/>
              <p:nvPr/>
            </p:nvSpPr>
            <p:spPr>
              <a:xfrm>
                <a:off x="10325100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54" name="03_PREDICTIONS__filament_r2c6"/>
              <p:cNvSpPr/>
              <p:nvPr/>
            </p:nvSpPr>
            <p:spPr>
              <a:xfrm>
                <a:off x="10544175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55" name="03_PREDICTIONS__filament_r2c7"/>
              <p:cNvSpPr/>
              <p:nvPr/>
            </p:nvSpPr>
            <p:spPr>
              <a:xfrm>
                <a:off x="10763250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56" name="03_PREDICTIONS__filament_r2c8"/>
              <p:cNvSpPr/>
              <p:nvPr/>
            </p:nvSpPr>
            <p:spPr>
              <a:xfrm>
                <a:off x="10982325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57" name="03_PREDICTIONS__filament_r2c9"/>
              <p:cNvSpPr/>
              <p:nvPr/>
            </p:nvSpPr>
            <p:spPr>
              <a:xfrm>
                <a:off x="11201400" y="26574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58" name="03_PREDICTIONS__filament_r3c0"/>
              <p:cNvSpPr/>
              <p:nvPr/>
            </p:nvSpPr>
            <p:spPr>
              <a:xfrm>
                <a:off x="9229725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59" name="03_PREDICTIONS__filament_r3c1"/>
              <p:cNvSpPr/>
              <p:nvPr/>
            </p:nvSpPr>
            <p:spPr>
              <a:xfrm>
                <a:off x="9448800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60" name="03_PREDICTIONS__filament_r3c2"/>
              <p:cNvSpPr/>
              <p:nvPr/>
            </p:nvSpPr>
            <p:spPr>
              <a:xfrm>
                <a:off x="9667875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61" name="03_PREDICTIONS__filament_r3c3"/>
              <p:cNvSpPr/>
              <p:nvPr/>
            </p:nvSpPr>
            <p:spPr>
              <a:xfrm>
                <a:off x="9886950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62" name="03_PREDICTIONS__filament_r3c4"/>
              <p:cNvSpPr/>
              <p:nvPr/>
            </p:nvSpPr>
            <p:spPr>
              <a:xfrm>
                <a:off x="10106025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63" name="03_PREDICTIONS__filament_r3c5"/>
              <p:cNvSpPr/>
              <p:nvPr/>
            </p:nvSpPr>
            <p:spPr>
              <a:xfrm>
                <a:off x="10325100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64" name="03_PREDICTIONS__filament_r3c6"/>
              <p:cNvSpPr/>
              <p:nvPr/>
            </p:nvSpPr>
            <p:spPr>
              <a:xfrm>
                <a:off x="10544175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65" name="03_PREDICTIONS__filament_r3c7"/>
              <p:cNvSpPr/>
              <p:nvPr/>
            </p:nvSpPr>
            <p:spPr>
              <a:xfrm>
                <a:off x="10763250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66" name="03_PREDICTIONS__filament_r3c8"/>
              <p:cNvSpPr/>
              <p:nvPr/>
            </p:nvSpPr>
            <p:spPr>
              <a:xfrm>
                <a:off x="10982325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67" name="03_PREDICTIONS__filament_r3c9"/>
              <p:cNvSpPr/>
              <p:nvPr/>
            </p:nvSpPr>
            <p:spPr>
              <a:xfrm>
                <a:off x="11201400" y="287655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68" name="03_PREDICTIONS__filament_r4c0"/>
              <p:cNvSpPr/>
              <p:nvPr/>
            </p:nvSpPr>
            <p:spPr>
              <a:xfrm>
                <a:off x="9229725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69" name="03_PREDICTIONS__filament_r4c1"/>
              <p:cNvSpPr/>
              <p:nvPr/>
            </p:nvSpPr>
            <p:spPr>
              <a:xfrm>
                <a:off x="9448800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70" name="03_PREDICTIONS__filament_r4c2"/>
              <p:cNvSpPr/>
              <p:nvPr/>
            </p:nvSpPr>
            <p:spPr>
              <a:xfrm>
                <a:off x="9667875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71" name="03_PREDICTIONS__filament_r4c3"/>
              <p:cNvSpPr/>
              <p:nvPr/>
            </p:nvSpPr>
            <p:spPr>
              <a:xfrm>
                <a:off x="9886950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72" name="03_PREDICTIONS__filament_r4c4"/>
              <p:cNvSpPr/>
              <p:nvPr/>
            </p:nvSpPr>
            <p:spPr>
              <a:xfrm>
                <a:off x="10106025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73" name="03_PREDICTIONS__filament_r4c5"/>
              <p:cNvSpPr/>
              <p:nvPr/>
            </p:nvSpPr>
            <p:spPr>
              <a:xfrm>
                <a:off x="10325100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74" name="03_PREDICTIONS__filament_r4c6"/>
              <p:cNvSpPr/>
              <p:nvPr/>
            </p:nvSpPr>
            <p:spPr>
              <a:xfrm>
                <a:off x="10544175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75" name="03_PREDICTIONS__filament_r4c7"/>
              <p:cNvSpPr/>
              <p:nvPr/>
            </p:nvSpPr>
            <p:spPr>
              <a:xfrm>
                <a:off x="10763250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76" name="03_PREDICTIONS__filament_r4c8"/>
              <p:cNvSpPr/>
              <p:nvPr/>
            </p:nvSpPr>
            <p:spPr>
              <a:xfrm>
                <a:off x="10982325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77" name="03_PREDICTIONS__filament_r4c9"/>
              <p:cNvSpPr/>
              <p:nvPr/>
            </p:nvSpPr>
            <p:spPr>
              <a:xfrm>
                <a:off x="11201400" y="309562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78" name="03_PREDICTIONS__filament_r5c0"/>
              <p:cNvSpPr/>
              <p:nvPr/>
            </p:nvSpPr>
            <p:spPr>
              <a:xfrm>
                <a:off x="9229725" y="33147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79" name="03_PREDICTIONS__filament_r5c1"/>
              <p:cNvSpPr/>
              <p:nvPr/>
            </p:nvSpPr>
            <p:spPr>
              <a:xfrm>
                <a:off x="9448800" y="33147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80" name="03_PREDICTIONS__filament_r5c2"/>
              <p:cNvSpPr/>
              <p:nvPr/>
            </p:nvSpPr>
            <p:spPr>
              <a:xfrm>
                <a:off x="9667875" y="33147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81" name="03_PREDICTIONS__filament_r5c3"/>
              <p:cNvSpPr/>
              <p:nvPr/>
            </p:nvSpPr>
            <p:spPr>
              <a:xfrm>
                <a:off x="9886950" y="33147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82" name="03_PREDICTIONS__filament_r5c4"/>
              <p:cNvSpPr/>
              <p:nvPr/>
            </p:nvSpPr>
            <p:spPr>
              <a:xfrm>
                <a:off x="10106025" y="3314700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83" name="03_PREDICTIONS__filament_r5c5"/>
              <p:cNvSpPr/>
              <p:nvPr/>
            </p:nvSpPr>
            <p:spPr>
              <a:xfrm>
                <a:off x="10325100" y="33147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84" name="03_PREDICTIONS__filament_r5c6"/>
              <p:cNvSpPr/>
              <p:nvPr/>
            </p:nvSpPr>
            <p:spPr>
              <a:xfrm>
                <a:off x="10544175" y="3314700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85" name="03_PREDICTIONS__filament_r5c7"/>
              <p:cNvSpPr/>
              <p:nvPr/>
            </p:nvSpPr>
            <p:spPr>
              <a:xfrm>
                <a:off x="10763250" y="3314700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86" name="03_PREDICTIONS__filament_r5c8"/>
              <p:cNvSpPr/>
              <p:nvPr/>
            </p:nvSpPr>
            <p:spPr>
              <a:xfrm>
                <a:off x="10982325" y="3314700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87" name="03_PREDICTIONS__filament_r5c9"/>
              <p:cNvSpPr/>
              <p:nvPr/>
            </p:nvSpPr>
            <p:spPr>
              <a:xfrm>
                <a:off x="11201400" y="3314700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88" name="03_PREDICTIONS__filament_r6c0"/>
              <p:cNvSpPr/>
              <p:nvPr/>
            </p:nvSpPr>
            <p:spPr>
              <a:xfrm>
                <a:off x="9229725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89" name="03_PREDICTIONS__filament_r6c1"/>
              <p:cNvSpPr/>
              <p:nvPr/>
            </p:nvSpPr>
            <p:spPr>
              <a:xfrm>
                <a:off x="9448800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90" name="03_PREDICTIONS__filament_r6c2"/>
              <p:cNvSpPr/>
              <p:nvPr/>
            </p:nvSpPr>
            <p:spPr>
              <a:xfrm>
                <a:off x="9667875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91" name="03_PREDICTIONS__filament_r6c3"/>
              <p:cNvSpPr/>
              <p:nvPr/>
            </p:nvSpPr>
            <p:spPr>
              <a:xfrm>
                <a:off x="9886950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92" name="03_PREDICTIONS__filament_r6c4"/>
              <p:cNvSpPr/>
              <p:nvPr/>
            </p:nvSpPr>
            <p:spPr>
              <a:xfrm>
                <a:off x="10106025" y="3533775"/>
                <a:ext cx="219075" cy="219075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93" name="03_PREDICTIONS__filament_r6c5"/>
              <p:cNvSpPr/>
              <p:nvPr/>
            </p:nvSpPr>
            <p:spPr>
              <a:xfrm>
                <a:off x="10325100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94" name="03_PREDICTIONS__filament_r6c6"/>
              <p:cNvSpPr/>
              <p:nvPr/>
            </p:nvSpPr>
            <p:spPr>
              <a:xfrm>
                <a:off x="10544175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95" name="03_PREDICTIONS__filament_r6c7"/>
              <p:cNvSpPr/>
              <p:nvPr/>
            </p:nvSpPr>
            <p:spPr>
              <a:xfrm>
                <a:off x="10763250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96" name="03_PREDICTIONS__filament_r6c8"/>
              <p:cNvSpPr/>
              <p:nvPr/>
            </p:nvSpPr>
            <p:spPr>
              <a:xfrm>
                <a:off x="10982325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97" name="03_PREDICTIONS__filament_r6c9"/>
              <p:cNvSpPr/>
              <p:nvPr/>
            </p:nvSpPr>
            <p:spPr>
              <a:xfrm>
                <a:off x="11201400" y="3533775"/>
                <a:ext cx="219075" cy="219075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98" name="03_PREDICTIONS__filament_frame"/>
              <p:cNvSpPr/>
              <p:nvPr/>
            </p:nvSpPr>
            <p:spPr>
              <a:xfrm>
                <a:off x="9229725" y="2219325"/>
                <a:ext cx="2190750" cy="1533525"/>
              </a:xfrm>
              <a:prstGeom prst="rect">
                <a:avLst/>
              </a:prstGeom>
              <a:noFill/>
              <a:ln w="10478">
                <a:solidFill>
                  <a:srgbClr val="B6C4CC"/>
                </a:solidFill>
              </a:ln>
            </p:spPr>
          </p:sp>
        </p:grpSp>
        <p:sp>
          <p:nvSpPr>
            <p:cNvPr id="299" name="03_PREDICTIONS__release_source"/>
            <p:cNvSpPr/>
            <p:nvPr/>
          </p:nvSpPr>
          <p:spPr>
            <a:xfrm>
              <a:off x="9486900" y="3009900"/>
              <a:ext cx="114300" cy="114300"/>
            </a:xfrm>
            <a:prstGeom prst="ellipse">
              <a:avLst/>
            </a:prstGeom>
            <a:solidFill>
              <a:srgbClr val="233440"/>
            </a:solidFill>
            <a:ln w="0">
              <a:noFill/>
            </a:ln>
          </p:spPr>
        </p:sp>
        <p:sp>
          <p:nvSpPr>
            <p:cNvPr id="300" name="03_PREDICTIONS__release_source_label"/>
            <p:cNvSpPr/>
            <p:nvPr/>
          </p:nvSpPr>
          <p:spPr>
            <a:xfrm>
              <a:off x="9296400" y="3219450"/>
              <a:ext cx="22860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00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00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</a:t>
              </a:r>
              <a:endParaRPr sz="1800" b="0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01" name="03_PREDICTIONS__filament0"/>
            <p:cNvSpPr/>
            <p:nvPr/>
          </p:nvSpPr>
          <p:spPr>
            <a:xfrm>
              <a:off x="9642158" y="2916555"/>
              <a:ext cx="95250" cy="95250"/>
            </a:xfrm>
            <a:prstGeom prst="ellipse">
              <a:avLst/>
            </a:prstGeom>
            <a:solidFill>
              <a:srgbClr val="6DADA7"/>
            </a:solidFill>
            <a:ln w="10478">
              <a:solidFill>
                <a:srgbClr val="26847D"/>
              </a:solidFill>
            </a:ln>
          </p:spPr>
        </p:sp>
        <p:sp>
          <p:nvSpPr>
            <p:cNvPr id="302" name="03_PREDICTIONS__filament1"/>
            <p:cNvSpPr/>
            <p:nvPr/>
          </p:nvSpPr>
          <p:spPr>
            <a:xfrm>
              <a:off x="9807893" y="2841308"/>
              <a:ext cx="114300" cy="114300"/>
            </a:xfrm>
            <a:prstGeom prst="ellipse">
              <a:avLst/>
            </a:prstGeom>
            <a:solidFill>
              <a:srgbClr val="75B2AC"/>
            </a:solidFill>
            <a:ln w="10478">
              <a:solidFill>
                <a:srgbClr val="26847D"/>
              </a:solidFill>
            </a:ln>
          </p:spPr>
        </p:sp>
        <p:sp>
          <p:nvSpPr>
            <p:cNvPr id="303" name="03_PREDICTIONS__filament2"/>
            <p:cNvSpPr/>
            <p:nvPr/>
          </p:nvSpPr>
          <p:spPr>
            <a:xfrm>
              <a:off x="9973628" y="2919413"/>
              <a:ext cx="133350" cy="133350"/>
            </a:xfrm>
            <a:prstGeom prst="ellipse">
              <a:avLst/>
            </a:prstGeom>
            <a:solidFill>
              <a:srgbClr val="7DB7B1"/>
            </a:solidFill>
            <a:ln w="10478">
              <a:solidFill>
                <a:srgbClr val="26847D"/>
              </a:solidFill>
            </a:ln>
          </p:spPr>
        </p:sp>
        <p:sp>
          <p:nvSpPr>
            <p:cNvPr id="304" name="03_PREDICTIONS__filament3"/>
            <p:cNvSpPr/>
            <p:nvPr/>
          </p:nvSpPr>
          <p:spPr>
            <a:xfrm>
              <a:off x="10183178" y="2887980"/>
              <a:ext cx="152400" cy="152400"/>
            </a:xfrm>
            <a:prstGeom prst="ellipse">
              <a:avLst/>
            </a:prstGeom>
            <a:solidFill>
              <a:srgbClr val="85BBB5"/>
            </a:solidFill>
            <a:ln w="10478">
              <a:solidFill>
                <a:srgbClr val="26847D"/>
              </a:solidFill>
            </a:ln>
          </p:spPr>
        </p:sp>
        <p:sp>
          <p:nvSpPr>
            <p:cNvPr id="305" name="03_PREDICTIONS__filament4"/>
            <p:cNvSpPr/>
            <p:nvPr/>
          </p:nvSpPr>
          <p:spPr>
            <a:xfrm>
              <a:off x="10402253" y="2800350"/>
              <a:ext cx="152400" cy="152400"/>
            </a:xfrm>
            <a:prstGeom prst="ellipse">
              <a:avLst/>
            </a:prstGeom>
            <a:solidFill>
              <a:srgbClr val="8EC0BA"/>
            </a:solidFill>
            <a:ln w="10478">
              <a:solidFill>
                <a:srgbClr val="26847D"/>
              </a:solidFill>
            </a:ln>
          </p:spPr>
        </p:sp>
        <p:sp>
          <p:nvSpPr>
            <p:cNvPr id="306" name="03_PREDICTIONS__filament5"/>
            <p:cNvSpPr/>
            <p:nvPr/>
          </p:nvSpPr>
          <p:spPr>
            <a:xfrm>
              <a:off x="10611803" y="2703195"/>
              <a:ext cx="171450" cy="171450"/>
            </a:xfrm>
            <a:prstGeom prst="ellipse">
              <a:avLst/>
            </a:prstGeom>
            <a:solidFill>
              <a:srgbClr val="96C5BF"/>
            </a:solidFill>
            <a:ln w="10478">
              <a:solidFill>
                <a:srgbClr val="26847D"/>
              </a:solidFill>
            </a:ln>
          </p:spPr>
        </p:sp>
        <p:sp>
          <p:nvSpPr>
            <p:cNvPr id="307" name="03_PREDICTIONS__filament6"/>
            <p:cNvSpPr/>
            <p:nvPr/>
          </p:nvSpPr>
          <p:spPr>
            <a:xfrm>
              <a:off x="10777538" y="2847023"/>
              <a:ext cx="190500" cy="190500"/>
            </a:xfrm>
            <a:prstGeom prst="ellipse">
              <a:avLst/>
            </a:prstGeom>
            <a:solidFill>
              <a:srgbClr val="9ECAC4"/>
            </a:solidFill>
            <a:ln w="10478">
              <a:solidFill>
                <a:srgbClr val="26847D"/>
              </a:solidFill>
            </a:ln>
          </p:spPr>
        </p:sp>
        <p:sp>
          <p:nvSpPr>
            <p:cNvPr id="308" name="03_PREDICTIONS__filament7"/>
            <p:cNvSpPr/>
            <p:nvPr/>
          </p:nvSpPr>
          <p:spPr>
            <a:xfrm>
              <a:off x="10908983" y="2584133"/>
              <a:ext cx="190500" cy="190500"/>
            </a:xfrm>
            <a:prstGeom prst="ellipse">
              <a:avLst/>
            </a:prstGeom>
            <a:solidFill>
              <a:srgbClr val="A7CFC9"/>
            </a:solidFill>
            <a:ln w="10478">
              <a:solidFill>
                <a:srgbClr val="26847D"/>
              </a:solidFill>
            </a:ln>
          </p:spPr>
        </p:sp>
        <p:sp>
          <p:nvSpPr>
            <p:cNvPr id="309" name="03_PREDICTIONS__filament8"/>
            <p:cNvSpPr/>
            <p:nvPr/>
          </p:nvSpPr>
          <p:spPr>
            <a:xfrm>
              <a:off x="11008995" y="2990850"/>
              <a:ext cx="209550" cy="209550"/>
            </a:xfrm>
            <a:prstGeom prst="ellipse">
              <a:avLst/>
            </a:prstGeom>
            <a:solidFill>
              <a:srgbClr val="AFD3CE"/>
            </a:solidFill>
            <a:ln w="10478">
              <a:solidFill>
                <a:srgbClr val="26847D"/>
              </a:solidFill>
            </a:ln>
          </p:spPr>
        </p:sp>
        <p:sp>
          <p:nvSpPr>
            <p:cNvPr id="310" name="03_PREDICTIONS__transport_upstream"/>
            <p:cNvSpPr/>
            <p:nvPr/>
          </p:nvSpPr>
          <p:spPr>
            <a:xfrm>
              <a:off x="9525000" y="2609850"/>
              <a:ext cx="323850" cy="1905"/>
            </a:xfrm>
            <a:custGeom>
              <a:avLst/>
              <a:gdLst/>
              <a:ahLst/>
              <a:cxnLst/>
              <a:rect l="0" t="0" r="0" b="0"/>
              <a:pathLst>
                <a:path w="323850" h="190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rgbClr val="26847D"/>
              </a:solidFill>
              <a:prstDash val="solid"/>
            </a:ln>
          </p:spPr>
        </p:sp>
        <p:sp>
          <p:nvSpPr>
            <p:cNvPr id="311" name="03_PREDICTIONS__transport_upstream_head"/>
            <p:cNvSpPr/>
            <p:nvPr/>
          </p:nvSpPr>
          <p:spPr>
            <a:xfrm>
              <a:off x="9798158" y="2583459"/>
              <a:ext cx="50692" cy="52781"/>
            </a:xfrm>
            <a:custGeom>
              <a:avLst/>
              <a:gdLst/>
              <a:ahLst/>
              <a:cxnLst/>
              <a:rect l="0" t="0" r="0" b="0"/>
              <a:pathLst>
                <a:path w="50692" h="52781">
                  <a:moveTo>
                    <a:pt x="0" y="52781"/>
                  </a:moveTo>
                  <a:lnTo>
                    <a:pt x="50692" y="26391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6847D"/>
              </a:solidFill>
              <a:prstDash val="solid"/>
            </a:ln>
          </p:spPr>
        </p:sp>
        <p:sp>
          <p:nvSpPr>
            <p:cNvPr id="312" name="03_PREDICTIONS__transport_downstream"/>
            <p:cNvSpPr/>
            <p:nvPr/>
          </p:nvSpPr>
          <p:spPr>
            <a:xfrm>
              <a:off x="10648950" y="2571750"/>
              <a:ext cx="371475" cy="1905"/>
            </a:xfrm>
            <a:custGeom>
              <a:avLst/>
              <a:gdLst/>
              <a:ahLst/>
              <a:cxnLst/>
              <a:rect l="0" t="0" r="0" b="0"/>
              <a:pathLst>
                <a:path w="371475" h="1905">
                  <a:moveTo>
                    <a:pt x="0" y="0"/>
                  </a:moveTo>
                  <a:lnTo>
                    <a:pt x="371475" y="0"/>
                  </a:lnTo>
                </a:path>
              </a:pathLst>
            </a:custGeom>
            <a:noFill/>
            <a:ln w="19050">
              <a:solidFill>
                <a:srgbClr val="26847D"/>
              </a:solidFill>
              <a:prstDash val="solid"/>
            </a:ln>
          </p:spPr>
        </p:sp>
        <p:sp>
          <p:nvSpPr>
            <p:cNvPr id="313" name="03_PREDICTIONS__transport_downstream_head"/>
            <p:cNvSpPr/>
            <p:nvPr/>
          </p:nvSpPr>
          <p:spPr>
            <a:xfrm>
              <a:off x="10969733" y="2545359"/>
              <a:ext cx="50692" cy="52781"/>
            </a:xfrm>
            <a:custGeom>
              <a:avLst/>
              <a:gdLst/>
              <a:ahLst/>
              <a:cxnLst/>
              <a:rect l="0" t="0" r="0" b="0"/>
              <a:pathLst>
                <a:path w="50692" h="52781">
                  <a:moveTo>
                    <a:pt x="0" y="52781"/>
                  </a:moveTo>
                  <a:lnTo>
                    <a:pt x="50692" y="26391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6847D"/>
              </a:solidFill>
              <a:prstDash val="solid"/>
            </a:ln>
          </p:spPr>
        </p:sp>
        <p:sp>
          <p:nvSpPr>
            <p:cNvPr id="314" name="03_PREDICTIONS__stochastic"/>
            <p:cNvSpPr/>
            <p:nvPr/>
          </p:nvSpPr>
          <p:spPr>
            <a:xfrm>
              <a:off x="9067800" y="3886200"/>
              <a:ext cx="2714625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950" b="0">
                  <a:solidFill>
                    <a:srgbClr val="26847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950" b="0">
                  <a:solidFill>
                    <a:srgbClr val="26847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Stochastic transport</a:t>
              </a:r>
              <a:endParaRPr sz="1950" b="0">
                <a:solidFill>
                  <a:srgbClr val="26847D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15" name="08_ROUTES__wind_to_filaments_port0"/>
            <p:cNvSpPr/>
            <p:nvPr/>
          </p:nvSpPr>
          <p:spPr>
            <a:xfrm>
              <a:off x="8752523" y="296132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316" name="08_ROUTES__wind_to_filaments_port1"/>
            <p:cNvSpPr/>
            <p:nvPr/>
          </p:nvSpPr>
          <p:spPr>
            <a:xfrm>
              <a:off x="9133523" y="296132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cxnSp>
          <p:nvCxnSpPr>
            <p:cNvPr id="1037" name="08_ROUTES__wind_to_filaments_segment0"/>
            <p:cNvCxnSpPr>
              <a:stCxn id="315" idx="3"/>
              <a:endCxn id="316" idx="1"/>
            </p:cNvCxnSpPr>
            <p:nvPr/>
          </p:nvCxnSpPr>
          <p:spPr>
            <a:xfrm>
              <a:off x="8754428" y="2962276"/>
              <a:ext cx="379095" cy="0"/>
            </a:xfrm>
            <a:prstGeom prst="straightConnector1">
              <a:avLst/>
            </a:prstGeom>
            <a:ln w="22860">
              <a:solidFill>
                <a:srgbClr val="26847D"/>
              </a:solidFill>
              <a:headEnd type="none"/>
              <a:tailEnd type="triangle" w="med" len="med"/>
            </a:ln>
          </p:spPr>
        </p:cxnSp>
        <p:sp>
          <p:nvSpPr>
            <p:cNvPr id="318" name="03_PREDICTIONS__predicted_title"/>
            <p:cNvSpPr/>
            <p:nvPr/>
          </p:nvSpPr>
          <p:spPr>
            <a:xfrm>
              <a:off x="11915775" y="1752600"/>
              <a:ext cx="2657475" cy="3143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75" b="1">
                  <a:solidFill>
                    <a:srgbClr val="26847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75" b="1">
                  <a:solidFill>
                    <a:srgbClr val="26847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Predicted hit maps</a:t>
              </a:r>
              <a:endParaRPr sz="1875" b="1">
                <a:solidFill>
                  <a:srgbClr val="26847D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689" name="03_PREDICTIONS__component_pred1"/>
            <p:cNvGrpSpPr/>
            <p:nvPr/>
          </p:nvGrpSpPr>
          <p:grpSpPr>
            <a:xfrm>
              <a:off x="12192000" y="2181225"/>
              <a:ext cx="1524000" cy="1066800"/>
              <a:chOff x="12192000" y="2181225"/>
              <a:chExt cx="1524000" cy="1066800"/>
            </a:xfrm>
          </p:grpSpPr>
          <p:sp>
            <p:nvSpPr>
              <p:cNvPr id="319" name="03_PREDICTIONS__pred1_r0c0"/>
              <p:cNvSpPr/>
              <p:nvPr/>
            </p:nvSpPr>
            <p:spPr>
              <a:xfrm>
                <a:off x="12192000" y="2181225"/>
                <a:ext cx="152400" cy="152400"/>
              </a:xfrm>
              <a:prstGeom prst="rect">
                <a:avLst/>
              </a:prstGeom>
              <a:solidFill>
                <a:srgbClr val="E7F0F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20" name="03_PREDICTIONS__pred1_r0c1"/>
              <p:cNvSpPr/>
              <p:nvPr/>
            </p:nvSpPr>
            <p:spPr>
              <a:xfrm>
                <a:off x="12344400" y="2181225"/>
                <a:ext cx="152400" cy="152400"/>
              </a:xfrm>
              <a:prstGeom prst="rect">
                <a:avLst/>
              </a:prstGeom>
              <a:solidFill>
                <a:srgbClr val="E6F0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21" name="03_PREDICTIONS__pred1_r0c2"/>
              <p:cNvSpPr/>
              <p:nvPr/>
            </p:nvSpPr>
            <p:spPr>
              <a:xfrm>
                <a:off x="12496800" y="2181225"/>
                <a:ext cx="152400" cy="152400"/>
              </a:xfrm>
              <a:prstGeom prst="rect">
                <a:avLst/>
              </a:prstGeom>
              <a:solidFill>
                <a:srgbClr val="E4EFEE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22" name="03_PREDICTIONS__pred1_r0c3"/>
              <p:cNvSpPr/>
              <p:nvPr/>
            </p:nvSpPr>
            <p:spPr>
              <a:xfrm>
                <a:off x="12649200" y="2181225"/>
                <a:ext cx="152400" cy="152400"/>
              </a:xfrm>
              <a:prstGeom prst="rect">
                <a:avLst/>
              </a:prstGeom>
              <a:solidFill>
                <a:srgbClr val="E1EDE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23" name="03_PREDICTIONS__pred1_r0c4"/>
              <p:cNvSpPr/>
              <p:nvPr/>
            </p:nvSpPr>
            <p:spPr>
              <a:xfrm>
                <a:off x="12801600" y="2181225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24" name="03_PREDICTIONS__pred1_r0c5"/>
              <p:cNvSpPr/>
              <p:nvPr/>
            </p:nvSpPr>
            <p:spPr>
              <a:xfrm>
                <a:off x="12954000" y="2181225"/>
                <a:ext cx="152400" cy="152400"/>
              </a:xfrm>
              <a:prstGeom prst="rect">
                <a:avLst/>
              </a:prstGeom>
              <a:solidFill>
                <a:srgbClr val="DBEAE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25" name="03_PREDICTIONS__pred1_r0c6"/>
              <p:cNvSpPr/>
              <p:nvPr/>
            </p:nvSpPr>
            <p:spPr>
              <a:xfrm>
                <a:off x="13106400" y="2181225"/>
                <a:ext cx="152400" cy="152400"/>
              </a:xfrm>
              <a:prstGeom prst="rect">
                <a:avLst/>
              </a:prstGeom>
              <a:solidFill>
                <a:srgbClr val="DBEAE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26" name="03_PREDICTIONS__pred1_r0c7"/>
              <p:cNvSpPr/>
              <p:nvPr/>
            </p:nvSpPr>
            <p:spPr>
              <a:xfrm>
                <a:off x="13258800" y="2181225"/>
                <a:ext cx="152400" cy="152400"/>
              </a:xfrm>
              <a:prstGeom prst="rect">
                <a:avLst/>
              </a:prstGeom>
              <a:solidFill>
                <a:srgbClr val="DDEBE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27" name="03_PREDICTIONS__pred1_r0c8"/>
              <p:cNvSpPr/>
              <p:nvPr/>
            </p:nvSpPr>
            <p:spPr>
              <a:xfrm>
                <a:off x="13411200" y="2181225"/>
                <a:ext cx="152400" cy="152400"/>
              </a:xfrm>
              <a:prstGeom prst="rect">
                <a:avLst/>
              </a:prstGeom>
              <a:solidFill>
                <a:srgbClr val="E0EDE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28" name="03_PREDICTIONS__pred1_r0c9"/>
              <p:cNvSpPr/>
              <p:nvPr/>
            </p:nvSpPr>
            <p:spPr>
              <a:xfrm>
                <a:off x="13563600" y="2181225"/>
                <a:ext cx="152400" cy="152400"/>
              </a:xfrm>
              <a:prstGeom prst="rect">
                <a:avLst/>
              </a:prstGeom>
              <a:solidFill>
                <a:srgbClr val="E4EFEE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29" name="03_PREDICTIONS__pred1_r1c0"/>
              <p:cNvSpPr/>
              <p:nvPr/>
            </p:nvSpPr>
            <p:spPr>
              <a:xfrm>
                <a:off x="12192000" y="2333625"/>
                <a:ext cx="152400" cy="152400"/>
              </a:xfrm>
              <a:prstGeom prst="rect">
                <a:avLst/>
              </a:prstGeom>
              <a:solidFill>
                <a:srgbClr val="E6F0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30" name="03_PREDICTIONS__pred1_r1c1"/>
              <p:cNvSpPr/>
              <p:nvPr/>
            </p:nvSpPr>
            <p:spPr>
              <a:xfrm>
                <a:off x="12344400" y="2333625"/>
                <a:ext cx="152400" cy="152400"/>
              </a:xfrm>
              <a:prstGeom prst="rect">
                <a:avLst/>
              </a:prstGeom>
              <a:solidFill>
                <a:srgbClr val="E2EEED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31" name="03_PREDICTIONS__pred1_r1c2"/>
              <p:cNvSpPr/>
              <p:nvPr/>
            </p:nvSpPr>
            <p:spPr>
              <a:xfrm>
                <a:off x="12496800" y="2333625"/>
                <a:ext cx="152400" cy="152400"/>
              </a:xfrm>
              <a:prstGeom prst="rect">
                <a:avLst/>
              </a:prstGeom>
              <a:solidFill>
                <a:srgbClr val="DBEAE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32" name="03_PREDICTIONS__pred1_r1c3"/>
              <p:cNvSpPr/>
              <p:nvPr/>
            </p:nvSpPr>
            <p:spPr>
              <a:xfrm>
                <a:off x="12649200" y="2333625"/>
                <a:ext cx="152400" cy="152400"/>
              </a:xfrm>
              <a:prstGeom prst="rect">
                <a:avLst/>
              </a:prstGeom>
              <a:solidFill>
                <a:srgbClr val="CFE3E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33" name="03_PREDICTIONS__pred1_r1c4"/>
              <p:cNvSpPr/>
              <p:nvPr/>
            </p:nvSpPr>
            <p:spPr>
              <a:xfrm>
                <a:off x="12801600" y="2333625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34" name="03_PREDICTIONS__pred1_r1c5"/>
              <p:cNvSpPr/>
              <p:nvPr/>
            </p:nvSpPr>
            <p:spPr>
              <a:xfrm>
                <a:off x="12954000" y="2333625"/>
                <a:ext cx="152400" cy="152400"/>
              </a:xfrm>
              <a:prstGeom prst="rect">
                <a:avLst/>
              </a:prstGeom>
              <a:solidFill>
                <a:srgbClr val="B6D5D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35" name="03_PREDICTIONS__pred1_r1c6"/>
              <p:cNvSpPr/>
              <p:nvPr/>
            </p:nvSpPr>
            <p:spPr>
              <a:xfrm>
                <a:off x="13106400" y="2333625"/>
                <a:ext cx="152400" cy="152400"/>
              </a:xfrm>
              <a:prstGeom prst="rect">
                <a:avLst/>
              </a:prstGeom>
              <a:solidFill>
                <a:srgbClr val="B5D4D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36" name="03_PREDICTIONS__pred1_r1c7"/>
              <p:cNvSpPr/>
              <p:nvPr/>
            </p:nvSpPr>
            <p:spPr>
              <a:xfrm>
                <a:off x="13258800" y="2333625"/>
                <a:ext cx="152400" cy="152400"/>
              </a:xfrm>
              <a:prstGeom prst="rect">
                <a:avLst/>
              </a:prstGeom>
              <a:solidFill>
                <a:srgbClr val="BEDAD8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37" name="03_PREDICTIONS__pred1_r1c8"/>
              <p:cNvSpPr/>
              <p:nvPr/>
            </p:nvSpPr>
            <p:spPr>
              <a:xfrm>
                <a:off x="13411200" y="2333625"/>
                <a:ext cx="152400" cy="152400"/>
              </a:xfrm>
              <a:prstGeom prst="rect">
                <a:avLst/>
              </a:prstGeom>
              <a:solidFill>
                <a:srgbClr val="CCE1E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38" name="03_PREDICTIONS__pred1_r1c9"/>
              <p:cNvSpPr/>
              <p:nvPr/>
            </p:nvSpPr>
            <p:spPr>
              <a:xfrm>
                <a:off x="13563600" y="2333625"/>
                <a:ext cx="152400" cy="152400"/>
              </a:xfrm>
              <a:prstGeom prst="rect">
                <a:avLst/>
              </a:prstGeom>
              <a:solidFill>
                <a:srgbClr val="D9E9E8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39" name="03_PREDICTIONS__pred1_r2c0"/>
              <p:cNvSpPr/>
              <p:nvPr/>
            </p:nvSpPr>
            <p:spPr>
              <a:xfrm>
                <a:off x="12192000" y="2486025"/>
                <a:ext cx="152400" cy="152400"/>
              </a:xfrm>
              <a:prstGeom prst="rect">
                <a:avLst/>
              </a:prstGeom>
              <a:solidFill>
                <a:srgbClr val="E3EEEE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40" name="03_PREDICTIONS__pred1_r2c1"/>
              <p:cNvSpPr/>
              <p:nvPr/>
            </p:nvSpPr>
            <p:spPr>
              <a:xfrm>
                <a:off x="12344400" y="2486025"/>
                <a:ext cx="152400" cy="152400"/>
              </a:xfrm>
              <a:prstGeom prst="rect">
                <a:avLst/>
              </a:prstGeom>
              <a:solidFill>
                <a:srgbClr val="DCEAE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41" name="03_PREDICTIONS__pred1_r2c2"/>
              <p:cNvSpPr/>
              <p:nvPr/>
            </p:nvSpPr>
            <p:spPr>
              <a:xfrm>
                <a:off x="12496800" y="2486025"/>
                <a:ext cx="152400" cy="152400"/>
              </a:xfrm>
              <a:prstGeom prst="rect">
                <a:avLst/>
              </a:prstGeom>
              <a:solidFill>
                <a:srgbClr val="CAE0D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42" name="03_PREDICTIONS__pred1_r2c3"/>
              <p:cNvSpPr/>
              <p:nvPr/>
            </p:nvSpPr>
            <p:spPr>
              <a:xfrm>
                <a:off x="12649200" y="2486025"/>
                <a:ext cx="152400" cy="152400"/>
              </a:xfrm>
              <a:prstGeom prst="rect">
                <a:avLst/>
              </a:prstGeom>
              <a:solidFill>
                <a:srgbClr val="AED0CE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43" name="03_PREDICTIONS__pred1_r2c4"/>
              <p:cNvSpPr/>
              <p:nvPr/>
            </p:nvSpPr>
            <p:spPr>
              <a:xfrm>
                <a:off x="12801600" y="2486025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44" name="03_PREDICTIONS__pred1_r2c5"/>
              <p:cNvSpPr/>
              <p:nvPr/>
            </p:nvSpPr>
            <p:spPr>
              <a:xfrm>
                <a:off x="12954000" y="2486025"/>
                <a:ext cx="152400" cy="152400"/>
              </a:xfrm>
              <a:prstGeom prst="rect">
                <a:avLst/>
              </a:prstGeom>
              <a:solidFill>
                <a:srgbClr val="72AFA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45" name="03_PREDICTIONS__pred1_r2c6"/>
              <p:cNvSpPr/>
              <p:nvPr/>
            </p:nvSpPr>
            <p:spPr>
              <a:xfrm>
                <a:off x="13106400" y="2486025"/>
                <a:ext cx="152400" cy="152400"/>
              </a:xfrm>
              <a:prstGeom prst="rect">
                <a:avLst/>
              </a:prstGeom>
              <a:solidFill>
                <a:srgbClr val="6FADA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46" name="03_PREDICTIONS__pred1_r2c7"/>
              <p:cNvSpPr/>
              <p:nvPr/>
            </p:nvSpPr>
            <p:spPr>
              <a:xfrm>
                <a:off x="13258800" y="2486025"/>
                <a:ext cx="152400" cy="152400"/>
              </a:xfrm>
              <a:prstGeom prst="rect">
                <a:avLst/>
              </a:prstGeom>
              <a:solidFill>
                <a:srgbClr val="85B9B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47" name="03_PREDICTIONS__pred1_r2c8"/>
              <p:cNvSpPr/>
              <p:nvPr/>
            </p:nvSpPr>
            <p:spPr>
              <a:xfrm>
                <a:off x="13411200" y="2486025"/>
                <a:ext cx="152400" cy="152400"/>
              </a:xfrm>
              <a:prstGeom prst="rect">
                <a:avLst/>
              </a:prstGeom>
              <a:solidFill>
                <a:srgbClr val="A7CCC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48" name="03_PREDICTIONS__pred1_r2c9"/>
              <p:cNvSpPr/>
              <p:nvPr/>
            </p:nvSpPr>
            <p:spPr>
              <a:xfrm>
                <a:off x="13563600" y="2486025"/>
                <a:ext cx="152400" cy="152400"/>
              </a:xfrm>
              <a:prstGeom prst="rect">
                <a:avLst/>
              </a:prstGeom>
              <a:solidFill>
                <a:srgbClr val="C5DED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49" name="03_PREDICTIONS__pred1_r3c0"/>
              <p:cNvSpPr/>
              <p:nvPr/>
            </p:nvSpPr>
            <p:spPr>
              <a:xfrm>
                <a:off x="12192000" y="2638425"/>
                <a:ext cx="152400" cy="152400"/>
              </a:xfrm>
              <a:prstGeom prst="rect">
                <a:avLst/>
              </a:prstGeom>
              <a:solidFill>
                <a:srgbClr val="E2EEED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50" name="03_PREDICTIONS__pred1_r3c1"/>
              <p:cNvSpPr/>
              <p:nvPr/>
            </p:nvSpPr>
            <p:spPr>
              <a:xfrm>
                <a:off x="12344400" y="2638425"/>
                <a:ext cx="152400" cy="152400"/>
              </a:xfrm>
              <a:prstGeom prst="rect">
                <a:avLst/>
              </a:prstGeom>
              <a:solidFill>
                <a:srgbClr val="D7E7E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51" name="03_PREDICTIONS__pred1_r3c2"/>
              <p:cNvSpPr/>
              <p:nvPr/>
            </p:nvSpPr>
            <p:spPr>
              <a:xfrm>
                <a:off x="12496800" y="2638425"/>
                <a:ext cx="152400" cy="152400"/>
              </a:xfrm>
              <a:prstGeom prst="rect">
                <a:avLst/>
              </a:prstGeom>
              <a:solidFill>
                <a:srgbClr val="BED9D7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52" name="03_PREDICTIONS__pred1_r3c3"/>
              <p:cNvSpPr/>
              <p:nvPr/>
            </p:nvSpPr>
            <p:spPr>
              <a:xfrm>
                <a:off x="12649200" y="2638425"/>
                <a:ext cx="152400" cy="152400"/>
              </a:xfrm>
              <a:prstGeom prst="rect">
                <a:avLst/>
              </a:prstGeom>
              <a:solidFill>
                <a:srgbClr val="95C2B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53" name="03_PREDICTIONS__pred1_r3c4"/>
              <p:cNvSpPr/>
              <p:nvPr/>
            </p:nvSpPr>
            <p:spPr>
              <a:xfrm>
                <a:off x="12801600" y="2638425"/>
                <a:ext cx="152400" cy="152400"/>
              </a:xfrm>
              <a:prstGeom prst="rect">
                <a:avLst/>
              </a:prstGeom>
              <a:solidFill>
                <a:srgbClr val="64A7A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54" name="03_PREDICTIONS__pred1_r3c5"/>
              <p:cNvSpPr/>
              <p:nvPr/>
            </p:nvSpPr>
            <p:spPr>
              <a:xfrm>
                <a:off x="12954000" y="2638425"/>
                <a:ext cx="152400" cy="152400"/>
              </a:xfrm>
              <a:prstGeom prst="rect">
                <a:avLst/>
              </a:prstGeom>
              <a:solidFill>
                <a:srgbClr val="3F928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55" name="03_PREDICTIONS__pred1_r3c6"/>
              <p:cNvSpPr/>
              <p:nvPr/>
            </p:nvSpPr>
            <p:spPr>
              <a:xfrm>
                <a:off x="13106400" y="2638425"/>
                <a:ext cx="152400" cy="152400"/>
              </a:xfrm>
              <a:prstGeom prst="rect">
                <a:avLst/>
              </a:prstGeom>
              <a:solidFill>
                <a:srgbClr val="3C908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56" name="03_PREDICTIONS__pred1_r3c7"/>
              <p:cNvSpPr/>
              <p:nvPr/>
            </p:nvSpPr>
            <p:spPr>
              <a:xfrm>
                <a:off x="13258800" y="2638425"/>
                <a:ext cx="152400" cy="152400"/>
              </a:xfrm>
              <a:prstGeom prst="rect">
                <a:avLst/>
              </a:prstGeom>
              <a:solidFill>
                <a:srgbClr val="5BA29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57" name="03_PREDICTIONS__pred1_r3c8"/>
              <p:cNvSpPr/>
              <p:nvPr/>
            </p:nvSpPr>
            <p:spPr>
              <a:xfrm>
                <a:off x="13411200" y="2638425"/>
                <a:ext cx="152400" cy="152400"/>
              </a:xfrm>
              <a:prstGeom prst="rect">
                <a:avLst/>
              </a:prstGeom>
              <a:solidFill>
                <a:srgbClr val="8BBDB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58" name="03_PREDICTIONS__pred1_r3c9"/>
              <p:cNvSpPr/>
              <p:nvPr/>
            </p:nvSpPr>
            <p:spPr>
              <a:xfrm>
                <a:off x="13563600" y="2638425"/>
                <a:ext cx="152400" cy="152400"/>
              </a:xfrm>
              <a:prstGeom prst="rect">
                <a:avLst/>
              </a:prstGeom>
              <a:solidFill>
                <a:srgbClr val="B7D5D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59" name="03_PREDICTIONS__pred1_r4c0"/>
              <p:cNvSpPr/>
              <p:nvPr/>
            </p:nvSpPr>
            <p:spPr>
              <a:xfrm>
                <a:off x="12192000" y="2790825"/>
                <a:ext cx="152400" cy="152400"/>
              </a:xfrm>
              <a:prstGeom prst="rect">
                <a:avLst/>
              </a:prstGeom>
              <a:solidFill>
                <a:srgbClr val="E3EEED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60" name="03_PREDICTIONS__pred1_r4c1"/>
              <p:cNvSpPr/>
              <p:nvPr/>
            </p:nvSpPr>
            <p:spPr>
              <a:xfrm>
                <a:off x="12344400" y="2790825"/>
                <a:ext cx="152400" cy="152400"/>
              </a:xfrm>
              <a:prstGeom prst="rect">
                <a:avLst/>
              </a:prstGeom>
              <a:solidFill>
                <a:srgbClr val="D9E9E8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61" name="03_PREDICTIONS__pred1_r4c2"/>
              <p:cNvSpPr/>
              <p:nvPr/>
            </p:nvSpPr>
            <p:spPr>
              <a:xfrm>
                <a:off x="12496800" y="2790825"/>
                <a:ext cx="152400" cy="152400"/>
              </a:xfrm>
              <a:prstGeom prst="rect">
                <a:avLst/>
              </a:prstGeom>
              <a:solidFill>
                <a:srgbClr val="C4DDDB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62" name="03_PREDICTIONS__pred1_r4c3"/>
              <p:cNvSpPr/>
              <p:nvPr/>
            </p:nvSpPr>
            <p:spPr>
              <a:xfrm>
                <a:off x="12649200" y="2790825"/>
                <a:ext cx="152400" cy="152400"/>
              </a:xfrm>
              <a:prstGeom prst="rect">
                <a:avLst/>
              </a:prstGeom>
              <a:solidFill>
                <a:srgbClr val="A1C9C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63" name="03_PREDICTIONS__pred1_r4c4"/>
              <p:cNvSpPr/>
              <p:nvPr/>
            </p:nvSpPr>
            <p:spPr>
              <a:xfrm>
                <a:off x="12801600" y="2790825"/>
                <a:ext cx="152400" cy="152400"/>
              </a:xfrm>
              <a:prstGeom prst="rect">
                <a:avLst/>
              </a:prstGeom>
              <a:solidFill>
                <a:srgbClr val="77B1AD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64" name="03_PREDICTIONS__pred1_r4c5"/>
              <p:cNvSpPr/>
              <p:nvPr/>
            </p:nvSpPr>
            <p:spPr>
              <a:xfrm>
                <a:off x="12954000" y="2790825"/>
                <a:ext cx="152400" cy="152400"/>
              </a:xfrm>
              <a:prstGeom prst="rect">
                <a:avLst/>
              </a:prstGeom>
              <a:solidFill>
                <a:srgbClr val="57A09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65" name="03_PREDICTIONS__pred1_r4c6"/>
              <p:cNvSpPr/>
              <p:nvPr/>
            </p:nvSpPr>
            <p:spPr>
              <a:xfrm>
                <a:off x="13106400" y="2790825"/>
                <a:ext cx="152400" cy="152400"/>
              </a:xfrm>
              <a:prstGeom prst="rect">
                <a:avLst/>
              </a:prstGeom>
              <a:solidFill>
                <a:srgbClr val="549E98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66" name="03_PREDICTIONS__pred1_r4c7"/>
              <p:cNvSpPr/>
              <p:nvPr/>
            </p:nvSpPr>
            <p:spPr>
              <a:xfrm>
                <a:off x="13258800" y="2790825"/>
                <a:ext cx="152400" cy="152400"/>
              </a:xfrm>
              <a:prstGeom prst="rect">
                <a:avLst/>
              </a:prstGeom>
              <a:solidFill>
                <a:srgbClr val="6FADA8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67" name="03_PREDICTIONS__pred1_r4c8"/>
              <p:cNvSpPr/>
              <p:nvPr/>
            </p:nvSpPr>
            <p:spPr>
              <a:xfrm>
                <a:off x="13411200" y="2790825"/>
                <a:ext cx="152400" cy="152400"/>
              </a:xfrm>
              <a:prstGeom prst="rect">
                <a:avLst/>
              </a:prstGeom>
              <a:solidFill>
                <a:srgbClr val="98C4C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68" name="03_PREDICTIONS__pred1_r4c9"/>
              <p:cNvSpPr/>
              <p:nvPr/>
            </p:nvSpPr>
            <p:spPr>
              <a:xfrm>
                <a:off x="13563600" y="2790825"/>
                <a:ext cx="152400" cy="152400"/>
              </a:xfrm>
              <a:prstGeom prst="rect">
                <a:avLst/>
              </a:prstGeom>
              <a:solidFill>
                <a:srgbClr val="BED9D7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69" name="03_PREDICTIONS__pred1_r5c0"/>
              <p:cNvSpPr/>
              <p:nvPr/>
            </p:nvSpPr>
            <p:spPr>
              <a:xfrm>
                <a:off x="12192000" y="2943225"/>
                <a:ext cx="152400" cy="152400"/>
              </a:xfrm>
              <a:prstGeom prst="rect">
                <a:avLst/>
              </a:prstGeom>
              <a:solidFill>
                <a:srgbClr val="E5EF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70" name="03_PREDICTIONS__pred1_r5c1"/>
              <p:cNvSpPr/>
              <p:nvPr/>
            </p:nvSpPr>
            <p:spPr>
              <a:xfrm>
                <a:off x="12344400" y="2943225"/>
                <a:ext cx="152400" cy="152400"/>
              </a:xfrm>
              <a:prstGeom prst="rect">
                <a:avLst/>
              </a:prstGeom>
              <a:solidFill>
                <a:srgbClr val="E0ECE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71" name="03_PREDICTIONS__pred1_r5c2"/>
              <p:cNvSpPr/>
              <p:nvPr/>
            </p:nvSpPr>
            <p:spPr>
              <a:xfrm>
                <a:off x="12496800" y="2943225"/>
                <a:ext cx="152400" cy="152400"/>
              </a:xfrm>
              <a:prstGeom prst="rect">
                <a:avLst/>
              </a:prstGeom>
              <a:solidFill>
                <a:srgbClr val="D5E6E5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72" name="03_PREDICTIONS__pred1_r5c3"/>
              <p:cNvSpPr/>
              <p:nvPr/>
            </p:nvSpPr>
            <p:spPr>
              <a:xfrm>
                <a:off x="12649200" y="2943225"/>
                <a:ext cx="152400" cy="152400"/>
              </a:xfrm>
              <a:prstGeom prst="rect">
                <a:avLst/>
              </a:prstGeom>
              <a:solidFill>
                <a:srgbClr val="C3DCD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73" name="03_PREDICTIONS__pred1_r5c4"/>
              <p:cNvSpPr/>
              <p:nvPr/>
            </p:nvSpPr>
            <p:spPr>
              <a:xfrm>
                <a:off x="12801600" y="2943225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74" name="03_PREDICTIONS__pred1_r5c5"/>
              <p:cNvSpPr/>
              <p:nvPr/>
            </p:nvSpPr>
            <p:spPr>
              <a:xfrm>
                <a:off x="12954000" y="2943225"/>
                <a:ext cx="152400" cy="152400"/>
              </a:xfrm>
              <a:prstGeom prst="rect">
                <a:avLst/>
              </a:prstGeom>
              <a:solidFill>
                <a:srgbClr val="9DC7C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75" name="03_PREDICTIONS__pred1_r5c6"/>
              <p:cNvSpPr/>
              <p:nvPr/>
            </p:nvSpPr>
            <p:spPr>
              <a:xfrm>
                <a:off x="13106400" y="2943225"/>
                <a:ext cx="152400" cy="152400"/>
              </a:xfrm>
              <a:prstGeom prst="rect">
                <a:avLst/>
              </a:prstGeom>
              <a:solidFill>
                <a:srgbClr val="9CC6C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76" name="03_PREDICTIONS__pred1_r5c7"/>
              <p:cNvSpPr/>
              <p:nvPr/>
            </p:nvSpPr>
            <p:spPr>
              <a:xfrm>
                <a:off x="13258800" y="2943225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77" name="03_PREDICTIONS__pred1_r5c8"/>
              <p:cNvSpPr/>
              <p:nvPr/>
            </p:nvSpPr>
            <p:spPr>
              <a:xfrm>
                <a:off x="13411200" y="2943225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78" name="03_PREDICTIONS__pred1_r5c9"/>
              <p:cNvSpPr/>
              <p:nvPr/>
            </p:nvSpPr>
            <p:spPr>
              <a:xfrm>
                <a:off x="13563600" y="2943225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79" name="03_PREDICTIONS__pred1_r6c0"/>
              <p:cNvSpPr/>
              <p:nvPr/>
            </p:nvSpPr>
            <p:spPr>
              <a:xfrm>
                <a:off x="12192000" y="3095625"/>
                <a:ext cx="152400" cy="152400"/>
              </a:xfrm>
              <a:prstGeom prst="rect">
                <a:avLst/>
              </a:prstGeom>
              <a:solidFill>
                <a:srgbClr val="E6F0F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80" name="03_PREDICTIONS__pred1_r6c1"/>
              <p:cNvSpPr/>
              <p:nvPr/>
            </p:nvSpPr>
            <p:spPr>
              <a:xfrm>
                <a:off x="12344400" y="3095625"/>
                <a:ext cx="152400" cy="152400"/>
              </a:xfrm>
              <a:prstGeom prst="rect">
                <a:avLst/>
              </a:prstGeom>
              <a:solidFill>
                <a:srgbClr val="E5EF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81" name="03_PREDICTIONS__pred1_r6c2"/>
              <p:cNvSpPr/>
              <p:nvPr/>
            </p:nvSpPr>
            <p:spPr>
              <a:xfrm>
                <a:off x="12496800" y="3095625"/>
                <a:ext cx="152400" cy="152400"/>
              </a:xfrm>
              <a:prstGeom prst="rect">
                <a:avLst/>
              </a:prstGeom>
              <a:solidFill>
                <a:srgbClr val="E2EDED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82" name="03_PREDICTIONS__pred1_r6c3"/>
              <p:cNvSpPr/>
              <p:nvPr/>
            </p:nvSpPr>
            <p:spPr>
              <a:xfrm>
                <a:off x="12649200" y="3095625"/>
                <a:ext cx="152400" cy="152400"/>
              </a:xfrm>
              <a:prstGeom prst="rect">
                <a:avLst/>
              </a:prstGeom>
              <a:solidFill>
                <a:srgbClr val="DCEAE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83" name="03_PREDICTIONS__pred1_r6c4"/>
              <p:cNvSpPr/>
              <p:nvPr/>
            </p:nvSpPr>
            <p:spPr>
              <a:xfrm>
                <a:off x="12801600" y="3095625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84" name="03_PREDICTIONS__pred1_r6c5"/>
              <p:cNvSpPr/>
              <p:nvPr/>
            </p:nvSpPr>
            <p:spPr>
              <a:xfrm>
                <a:off x="12954000" y="3095625"/>
                <a:ext cx="152400" cy="152400"/>
              </a:xfrm>
              <a:prstGeom prst="rect">
                <a:avLst/>
              </a:prstGeom>
              <a:solidFill>
                <a:srgbClr val="D0E4E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85" name="03_PREDICTIONS__pred1_r6c6"/>
              <p:cNvSpPr/>
              <p:nvPr/>
            </p:nvSpPr>
            <p:spPr>
              <a:xfrm>
                <a:off x="13106400" y="3095625"/>
                <a:ext cx="152400" cy="152400"/>
              </a:xfrm>
              <a:prstGeom prst="rect">
                <a:avLst/>
              </a:prstGeom>
              <a:solidFill>
                <a:srgbClr val="D0E4E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86" name="03_PREDICTIONS__pred1_r6c7"/>
              <p:cNvSpPr/>
              <p:nvPr/>
            </p:nvSpPr>
            <p:spPr>
              <a:xfrm>
                <a:off x="13258800" y="3095625"/>
                <a:ext cx="152400" cy="152400"/>
              </a:xfrm>
              <a:prstGeom prst="rect">
                <a:avLst/>
              </a:prstGeom>
              <a:solidFill>
                <a:srgbClr val="D4E6E5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87" name="03_PREDICTIONS__pred1_r6c8"/>
              <p:cNvSpPr/>
              <p:nvPr/>
            </p:nvSpPr>
            <p:spPr>
              <a:xfrm>
                <a:off x="13411200" y="3095625"/>
                <a:ext cx="152400" cy="152400"/>
              </a:xfrm>
              <a:prstGeom prst="rect">
                <a:avLst/>
              </a:prstGeom>
              <a:solidFill>
                <a:srgbClr val="DBEAE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88" name="03_PREDICTIONS__pred1_r6c9"/>
              <p:cNvSpPr/>
              <p:nvPr/>
            </p:nvSpPr>
            <p:spPr>
              <a:xfrm>
                <a:off x="13563600" y="3095625"/>
                <a:ext cx="152400" cy="152400"/>
              </a:xfrm>
              <a:prstGeom prst="rect">
                <a:avLst/>
              </a:prstGeom>
              <a:solidFill>
                <a:srgbClr val="E1EDE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89" name="03_PREDICTIONS__pred1_frame"/>
              <p:cNvSpPr/>
              <p:nvPr/>
            </p:nvSpPr>
            <p:spPr>
              <a:xfrm>
                <a:off x="12192000" y="2181225"/>
                <a:ext cx="1524000" cy="1066800"/>
              </a:xfrm>
              <a:prstGeom prst="rect">
                <a:avLst/>
              </a:prstGeom>
              <a:noFill/>
              <a:ln w="10478">
                <a:solidFill>
                  <a:srgbClr val="B6C4CC"/>
                </a:solidFill>
              </a:ln>
            </p:spPr>
          </p:sp>
        </p:grpSp>
        <p:grpSp>
          <p:nvGrpSpPr>
            <p:cNvPr id="692" name="03_PREDICTIONS__component_pred2"/>
            <p:cNvGrpSpPr/>
            <p:nvPr/>
          </p:nvGrpSpPr>
          <p:grpSpPr>
            <a:xfrm>
              <a:off x="12944475" y="3295650"/>
              <a:ext cx="1524000" cy="1066800"/>
              <a:chOff x="12944475" y="3295650"/>
              <a:chExt cx="1524000" cy="1066800"/>
            </a:xfrm>
          </p:grpSpPr>
          <p:sp>
            <p:nvSpPr>
              <p:cNvPr id="390" name="03_PREDICTIONS__pred2_r0c0"/>
              <p:cNvSpPr/>
              <p:nvPr/>
            </p:nvSpPr>
            <p:spPr>
              <a:xfrm>
                <a:off x="12944475" y="3295650"/>
                <a:ext cx="152400" cy="152400"/>
              </a:xfrm>
              <a:prstGeom prst="rect">
                <a:avLst/>
              </a:prstGeom>
              <a:solidFill>
                <a:srgbClr val="DDEBE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91" name="03_PREDICTIONS__pred2_r0c1"/>
              <p:cNvSpPr/>
              <p:nvPr/>
            </p:nvSpPr>
            <p:spPr>
              <a:xfrm>
                <a:off x="13096875" y="3295650"/>
                <a:ext cx="152400" cy="152400"/>
              </a:xfrm>
              <a:prstGeom prst="rect">
                <a:avLst/>
              </a:prstGeom>
              <a:solidFill>
                <a:srgbClr val="D4E6E5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92" name="03_PREDICTIONS__pred2_r0c2"/>
              <p:cNvSpPr/>
              <p:nvPr/>
            </p:nvSpPr>
            <p:spPr>
              <a:xfrm>
                <a:off x="13249275" y="3295650"/>
                <a:ext cx="152400" cy="152400"/>
              </a:xfrm>
              <a:prstGeom prst="rect">
                <a:avLst/>
              </a:prstGeom>
              <a:solidFill>
                <a:srgbClr val="D0E4E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93" name="03_PREDICTIONS__pred2_r0c3"/>
              <p:cNvSpPr/>
              <p:nvPr/>
            </p:nvSpPr>
            <p:spPr>
              <a:xfrm>
                <a:off x="13401675" y="3295650"/>
                <a:ext cx="152400" cy="152400"/>
              </a:xfrm>
              <a:prstGeom prst="rect">
                <a:avLst/>
              </a:prstGeom>
              <a:solidFill>
                <a:srgbClr val="D3E5E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94" name="03_PREDICTIONS__pred2_r0c4"/>
              <p:cNvSpPr/>
              <p:nvPr/>
            </p:nvSpPr>
            <p:spPr>
              <a:xfrm>
                <a:off x="13554075" y="3295650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95" name="03_PREDICTIONS__pred2_r0c5"/>
              <p:cNvSpPr/>
              <p:nvPr/>
            </p:nvSpPr>
            <p:spPr>
              <a:xfrm>
                <a:off x="13706475" y="3295650"/>
                <a:ext cx="152400" cy="152400"/>
              </a:xfrm>
              <a:prstGeom prst="rect">
                <a:avLst/>
              </a:prstGeom>
              <a:solidFill>
                <a:srgbClr val="E3EEEE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96" name="03_PREDICTIONS__pred2_r0c6"/>
              <p:cNvSpPr/>
              <p:nvPr/>
            </p:nvSpPr>
            <p:spPr>
              <a:xfrm>
                <a:off x="13858875" y="3295650"/>
                <a:ext cx="152400" cy="152400"/>
              </a:xfrm>
              <a:prstGeom prst="rect">
                <a:avLst/>
              </a:prstGeom>
              <a:solidFill>
                <a:srgbClr val="E9F2F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97" name="03_PREDICTIONS__pred2_r0c7"/>
              <p:cNvSpPr/>
              <p:nvPr/>
            </p:nvSpPr>
            <p:spPr>
              <a:xfrm>
                <a:off x="14011275" y="3295650"/>
                <a:ext cx="152400" cy="152400"/>
              </a:xfrm>
              <a:prstGeom prst="rect">
                <a:avLst/>
              </a:prstGeom>
              <a:solidFill>
                <a:srgbClr val="ECF3F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98" name="03_PREDICTIONS__pred2_r0c8"/>
              <p:cNvSpPr/>
              <p:nvPr/>
            </p:nvSpPr>
            <p:spPr>
              <a:xfrm>
                <a:off x="14163675" y="3295650"/>
                <a:ext cx="152400" cy="152400"/>
              </a:xfrm>
              <a:prstGeom prst="rect">
                <a:avLst/>
              </a:prstGeom>
              <a:solidFill>
                <a:srgbClr val="EDF4F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99" name="03_PREDICTIONS__pred2_r0c9"/>
              <p:cNvSpPr/>
              <p:nvPr/>
            </p:nvSpPr>
            <p:spPr>
              <a:xfrm>
                <a:off x="14316075" y="3295650"/>
                <a:ext cx="152400" cy="152400"/>
              </a:xfrm>
              <a:prstGeom prst="rect">
                <a:avLst/>
              </a:prstGeom>
              <a:solidFill>
                <a:srgbClr val="EDF4F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00" name="03_PREDICTIONS__pred2_r1c0"/>
              <p:cNvSpPr/>
              <p:nvPr/>
            </p:nvSpPr>
            <p:spPr>
              <a:xfrm>
                <a:off x="12944475" y="3448050"/>
                <a:ext cx="152400" cy="152400"/>
              </a:xfrm>
              <a:prstGeom prst="rect">
                <a:avLst/>
              </a:prstGeom>
              <a:solidFill>
                <a:srgbClr val="BCD8D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01" name="03_PREDICTIONS__pred2_r1c1"/>
              <p:cNvSpPr/>
              <p:nvPr/>
            </p:nvSpPr>
            <p:spPr>
              <a:xfrm>
                <a:off x="13096875" y="3448050"/>
                <a:ext cx="152400" cy="152400"/>
              </a:xfrm>
              <a:prstGeom prst="rect">
                <a:avLst/>
              </a:prstGeom>
              <a:solidFill>
                <a:srgbClr val="A4CBC8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02" name="03_PREDICTIONS__pred2_r1c2"/>
              <p:cNvSpPr/>
              <p:nvPr/>
            </p:nvSpPr>
            <p:spPr>
              <a:xfrm>
                <a:off x="13249275" y="3448050"/>
                <a:ext cx="152400" cy="152400"/>
              </a:xfrm>
              <a:prstGeom prst="rect">
                <a:avLst/>
              </a:prstGeom>
              <a:solidFill>
                <a:srgbClr val="98C4C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03" name="03_PREDICTIONS__pred2_r1c3"/>
              <p:cNvSpPr/>
              <p:nvPr/>
            </p:nvSpPr>
            <p:spPr>
              <a:xfrm>
                <a:off x="13401675" y="3448050"/>
                <a:ext cx="152400" cy="152400"/>
              </a:xfrm>
              <a:prstGeom prst="rect">
                <a:avLst/>
              </a:prstGeom>
              <a:solidFill>
                <a:srgbClr val="A0C8C5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04" name="03_PREDICTIONS__pred2_r1c4"/>
              <p:cNvSpPr/>
              <p:nvPr/>
            </p:nvSpPr>
            <p:spPr>
              <a:xfrm>
                <a:off x="13554075" y="3448050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05" name="03_PREDICTIONS__pred2_r1c5"/>
              <p:cNvSpPr/>
              <p:nvPr/>
            </p:nvSpPr>
            <p:spPr>
              <a:xfrm>
                <a:off x="13706475" y="3448050"/>
                <a:ext cx="152400" cy="152400"/>
              </a:xfrm>
              <a:prstGeom prst="rect">
                <a:avLst/>
              </a:prstGeom>
              <a:solidFill>
                <a:srgbClr val="CFE3E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06" name="03_PREDICTIONS__pred2_r1c6"/>
              <p:cNvSpPr/>
              <p:nvPr/>
            </p:nvSpPr>
            <p:spPr>
              <a:xfrm>
                <a:off x="13858875" y="3448050"/>
                <a:ext cx="152400" cy="152400"/>
              </a:xfrm>
              <a:prstGeom prst="rect">
                <a:avLst/>
              </a:prstGeom>
              <a:solidFill>
                <a:srgbClr val="E1EDE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07" name="03_PREDICTIONS__pred2_r1c7"/>
              <p:cNvSpPr/>
              <p:nvPr/>
            </p:nvSpPr>
            <p:spPr>
              <a:xfrm>
                <a:off x="14011275" y="3448050"/>
                <a:ext cx="152400" cy="152400"/>
              </a:xfrm>
              <a:prstGeom prst="rect">
                <a:avLst/>
              </a:prstGeom>
              <a:solidFill>
                <a:srgbClr val="E9F2F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08" name="03_PREDICTIONS__pred2_r1c8"/>
              <p:cNvSpPr/>
              <p:nvPr/>
            </p:nvSpPr>
            <p:spPr>
              <a:xfrm>
                <a:off x="14163675" y="3448050"/>
                <a:ext cx="152400" cy="152400"/>
              </a:xfrm>
              <a:prstGeom prst="rect">
                <a:avLst/>
              </a:prstGeom>
              <a:solidFill>
                <a:srgbClr val="ECF3F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09" name="03_PREDICTIONS__pred2_r1c9"/>
              <p:cNvSpPr/>
              <p:nvPr/>
            </p:nvSpPr>
            <p:spPr>
              <a:xfrm>
                <a:off x="14316075" y="3448050"/>
                <a:ext cx="152400" cy="152400"/>
              </a:xfrm>
              <a:prstGeom prst="rect">
                <a:avLst/>
              </a:prstGeom>
              <a:solidFill>
                <a:srgbClr val="EDF4F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10" name="03_PREDICTIONS__pred2_r2c0"/>
              <p:cNvSpPr/>
              <p:nvPr/>
            </p:nvSpPr>
            <p:spPr>
              <a:xfrm>
                <a:off x="12944475" y="3600450"/>
                <a:ext cx="152400" cy="152400"/>
              </a:xfrm>
              <a:prstGeom prst="rect">
                <a:avLst/>
              </a:prstGeom>
              <a:solidFill>
                <a:srgbClr val="96C3C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11" name="03_PREDICTIONS__pred2_r2c1"/>
              <p:cNvSpPr/>
              <p:nvPr/>
            </p:nvSpPr>
            <p:spPr>
              <a:xfrm>
                <a:off x="13096875" y="3600450"/>
                <a:ext cx="152400" cy="152400"/>
              </a:xfrm>
              <a:prstGeom prst="rect">
                <a:avLst/>
              </a:prstGeom>
              <a:solidFill>
                <a:srgbClr val="6BABA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12" name="03_PREDICTIONS__pred2_r2c2"/>
              <p:cNvSpPr/>
              <p:nvPr/>
            </p:nvSpPr>
            <p:spPr>
              <a:xfrm>
                <a:off x="13249275" y="3600450"/>
                <a:ext cx="152400" cy="152400"/>
              </a:xfrm>
              <a:prstGeom prst="rect">
                <a:avLst/>
              </a:prstGeom>
              <a:solidFill>
                <a:srgbClr val="569F9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13" name="03_PREDICTIONS__pred2_r2c3"/>
              <p:cNvSpPr/>
              <p:nvPr/>
            </p:nvSpPr>
            <p:spPr>
              <a:xfrm>
                <a:off x="13401675" y="3600450"/>
                <a:ext cx="152400" cy="152400"/>
              </a:xfrm>
              <a:prstGeom prst="rect">
                <a:avLst/>
              </a:prstGeom>
              <a:solidFill>
                <a:srgbClr val="65A7A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14" name="03_PREDICTIONS__pred2_r2c4"/>
              <p:cNvSpPr/>
              <p:nvPr/>
            </p:nvSpPr>
            <p:spPr>
              <a:xfrm>
                <a:off x="13554075" y="3600450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15" name="03_PREDICTIONS__pred2_r2c5"/>
              <p:cNvSpPr/>
              <p:nvPr/>
            </p:nvSpPr>
            <p:spPr>
              <a:xfrm>
                <a:off x="13706475" y="3600450"/>
                <a:ext cx="152400" cy="152400"/>
              </a:xfrm>
              <a:prstGeom prst="rect">
                <a:avLst/>
              </a:prstGeom>
              <a:solidFill>
                <a:srgbClr val="B9D6D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16" name="03_PREDICTIONS__pred2_r2c6"/>
              <p:cNvSpPr/>
              <p:nvPr/>
            </p:nvSpPr>
            <p:spPr>
              <a:xfrm>
                <a:off x="13858875" y="3600450"/>
                <a:ext cx="152400" cy="152400"/>
              </a:xfrm>
              <a:prstGeom prst="rect">
                <a:avLst/>
              </a:prstGeom>
              <a:solidFill>
                <a:srgbClr val="D7E7E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17" name="03_PREDICTIONS__pred2_r2c7"/>
              <p:cNvSpPr/>
              <p:nvPr/>
            </p:nvSpPr>
            <p:spPr>
              <a:xfrm>
                <a:off x="14011275" y="3600450"/>
                <a:ext cx="152400" cy="152400"/>
              </a:xfrm>
              <a:prstGeom prst="rect">
                <a:avLst/>
              </a:prstGeom>
              <a:solidFill>
                <a:srgbClr val="E6F0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18" name="03_PREDICTIONS__pred2_r2c8"/>
              <p:cNvSpPr/>
              <p:nvPr/>
            </p:nvSpPr>
            <p:spPr>
              <a:xfrm>
                <a:off x="14163675" y="3600450"/>
                <a:ext cx="152400" cy="152400"/>
              </a:xfrm>
              <a:prstGeom prst="rect">
                <a:avLst/>
              </a:prstGeom>
              <a:solidFill>
                <a:srgbClr val="ECF3F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19" name="03_PREDICTIONS__pred2_r2c9"/>
              <p:cNvSpPr/>
              <p:nvPr/>
            </p:nvSpPr>
            <p:spPr>
              <a:xfrm>
                <a:off x="14316075" y="3600450"/>
                <a:ext cx="152400" cy="152400"/>
              </a:xfrm>
              <a:prstGeom prst="rect">
                <a:avLst/>
              </a:prstGeom>
              <a:solidFill>
                <a:srgbClr val="EDF4F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20" name="03_PREDICTIONS__pred2_r3c0"/>
              <p:cNvSpPr/>
              <p:nvPr/>
            </p:nvSpPr>
            <p:spPr>
              <a:xfrm>
                <a:off x="12944475" y="3752850"/>
                <a:ext cx="152400" cy="152400"/>
              </a:xfrm>
              <a:prstGeom prst="rect">
                <a:avLst/>
              </a:prstGeom>
              <a:solidFill>
                <a:srgbClr val="92C1BD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21" name="03_PREDICTIONS__pred2_r3c1"/>
              <p:cNvSpPr/>
              <p:nvPr/>
            </p:nvSpPr>
            <p:spPr>
              <a:xfrm>
                <a:off x="13096875" y="3752850"/>
                <a:ext cx="152400" cy="152400"/>
              </a:xfrm>
              <a:prstGeom prst="rect">
                <a:avLst/>
              </a:prstGeom>
              <a:solidFill>
                <a:srgbClr val="65A7A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22" name="03_PREDICTIONS__pred2_r3c2"/>
              <p:cNvSpPr/>
              <p:nvPr/>
            </p:nvSpPr>
            <p:spPr>
              <a:xfrm>
                <a:off x="13249275" y="3752850"/>
                <a:ext cx="152400" cy="152400"/>
              </a:xfrm>
              <a:prstGeom prst="rect">
                <a:avLst/>
              </a:prstGeom>
              <a:solidFill>
                <a:srgbClr val="4E9B95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23" name="03_PREDICTIONS__pred2_r3c3"/>
              <p:cNvSpPr/>
              <p:nvPr/>
            </p:nvSpPr>
            <p:spPr>
              <a:xfrm>
                <a:off x="13401675" y="3752850"/>
                <a:ext cx="152400" cy="152400"/>
              </a:xfrm>
              <a:prstGeom prst="rect">
                <a:avLst/>
              </a:prstGeom>
              <a:solidFill>
                <a:srgbClr val="5EA39E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24" name="03_PREDICTIONS__pred2_r3c4"/>
              <p:cNvSpPr/>
              <p:nvPr/>
            </p:nvSpPr>
            <p:spPr>
              <a:xfrm>
                <a:off x="13554075" y="3752850"/>
                <a:ext cx="152400" cy="152400"/>
              </a:xfrm>
              <a:prstGeom prst="rect">
                <a:avLst/>
              </a:prstGeom>
              <a:solidFill>
                <a:srgbClr val="88BBB7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25" name="03_PREDICTIONS__pred2_r3c5"/>
              <p:cNvSpPr/>
              <p:nvPr/>
            </p:nvSpPr>
            <p:spPr>
              <a:xfrm>
                <a:off x="13706475" y="3752850"/>
                <a:ext cx="152400" cy="152400"/>
              </a:xfrm>
              <a:prstGeom prst="rect">
                <a:avLst/>
              </a:prstGeom>
              <a:solidFill>
                <a:srgbClr val="B6D5D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26" name="03_PREDICTIONS__pred2_r3c6"/>
              <p:cNvSpPr/>
              <p:nvPr/>
            </p:nvSpPr>
            <p:spPr>
              <a:xfrm>
                <a:off x="13858875" y="3752850"/>
                <a:ext cx="152400" cy="152400"/>
              </a:xfrm>
              <a:prstGeom prst="rect">
                <a:avLst/>
              </a:prstGeom>
              <a:solidFill>
                <a:srgbClr val="D6E7E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27" name="03_PREDICTIONS__pred2_r3c7"/>
              <p:cNvSpPr/>
              <p:nvPr/>
            </p:nvSpPr>
            <p:spPr>
              <a:xfrm>
                <a:off x="14011275" y="3752850"/>
                <a:ext cx="152400" cy="152400"/>
              </a:xfrm>
              <a:prstGeom prst="rect">
                <a:avLst/>
              </a:prstGeom>
              <a:solidFill>
                <a:srgbClr val="E6F0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28" name="03_PREDICTIONS__pred2_r3c8"/>
              <p:cNvSpPr/>
              <p:nvPr/>
            </p:nvSpPr>
            <p:spPr>
              <a:xfrm>
                <a:off x="14163675" y="3752850"/>
                <a:ext cx="152400" cy="152400"/>
              </a:xfrm>
              <a:prstGeom prst="rect">
                <a:avLst/>
              </a:prstGeom>
              <a:solidFill>
                <a:srgbClr val="EBF3F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29" name="03_PREDICTIONS__pred2_r3c9"/>
              <p:cNvSpPr/>
              <p:nvPr/>
            </p:nvSpPr>
            <p:spPr>
              <a:xfrm>
                <a:off x="14316075" y="3752850"/>
                <a:ext cx="152400" cy="152400"/>
              </a:xfrm>
              <a:prstGeom prst="rect">
                <a:avLst/>
              </a:prstGeom>
              <a:solidFill>
                <a:srgbClr val="EDF4F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30" name="03_PREDICTIONS__pred2_r4c0"/>
              <p:cNvSpPr/>
              <p:nvPr/>
            </p:nvSpPr>
            <p:spPr>
              <a:xfrm>
                <a:off x="12944475" y="3905250"/>
                <a:ext cx="152400" cy="152400"/>
              </a:xfrm>
              <a:prstGeom prst="rect">
                <a:avLst/>
              </a:prstGeom>
              <a:solidFill>
                <a:srgbClr val="B4D4D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31" name="03_PREDICTIONS__pred2_r4c1"/>
              <p:cNvSpPr/>
              <p:nvPr/>
            </p:nvSpPr>
            <p:spPr>
              <a:xfrm>
                <a:off x="13096875" y="3905250"/>
                <a:ext cx="152400" cy="152400"/>
              </a:xfrm>
              <a:prstGeom prst="rect">
                <a:avLst/>
              </a:prstGeom>
              <a:solidFill>
                <a:srgbClr val="97C4C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32" name="03_PREDICTIONS__pred2_r4c2"/>
              <p:cNvSpPr/>
              <p:nvPr/>
            </p:nvSpPr>
            <p:spPr>
              <a:xfrm>
                <a:off x="13249275" y="3905250"/>
                <a:ext cx="152400" cy="152400"/>
              </a:xfrm>
              <a:prstGeom prst="rect">
                <a:avLst/>
              </a:prstGeom>
              <a:solidFill>
                <a:srgbClr val="89BCB8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33" name="03_PREDICTIONS__pred2_r4c3"/>
              <p:cNvSpPr/>
              <p:nvPr/>
            </p:nvSpPr>
            <p:spPr>
              <a:xfrm>
                <a:off x="13401675" y="3905250"/>
                <a:ext cx="152400" cy="152400"/>
              </a:xfrm>
              <a:prstGeom prst="rect">
                <a:avLst/>
              </a:prstGeom>
              <a:solidFill>
                <a:srgbClr val="93C1BE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34" name="03_PREDICTIONS__pred2_r4c4"/>
              <p:cNvSpPr/>
              <p:nvPr/>
            </p:nvSpPr>
            <p:spPr>
              <a:xfrm>
                <a:off x="13554075" y="3905250"/>
                <a:ext cx="152400" cy="152400"/>
              </a:xfrm>
              <a:prstGeom prst="rect">
                <a:avLst/>
              </a:prstGeom>
              <a:solidFill>
                <a:srgbClr val="AED0CE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35" name="03_PREDICTIONS__pred2_r4c5"/>
              <p:cNvSpPr/>
              <p:nvPr/>
            </p:nvSpPr>
            <p:spPr>
              <a:xfrm>
                <a:off x="13706475" y="3905250"/>
                <a:ext cx="152400" cy="152400"/>
              </a:xfrm>
              <a:prstGeom prst="rect">
                <a:avLst/>
              </a:prstGeom>
              <a:solidFill>
                <a:srgbClr val="CAE0D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36" name="03_PREDICTIONS__pred2_r4c6"/>
              <p:cNvSpPr/>
              <p:nvPr/>
            </p:nvSpPr>
            <p:spPr>
              <a:xfrm>
                <a:off x="13858875" y="3905250"/>
                <a:ext cx="152400" cy="152400"/>
              </a:xfrm>
              <a:prstGeom prst="rect">
                <a:avLst/>
              </a:prstGeom>
              <a:solidFill>
                <a:srgbClr val="DFECEB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37" name="03_PREDICTIONS__pred2_r4c7"/>
              <p:cNvSpPr/>
              <p:nvPr/>
            </p:nvSpPr>
            <p:spPr>
              <a:xfrm>
                <a:off x="14011275" y="3905250"/>
                <a:ext cx="152400" cy="152400"/>
              </a:xfrm>
              <a:prstGeom prst="rect">
                <a:avLst/>
              </a:prstGeom>
              <a:solidFill>
                <a:srgbClr val="E9F1F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38" name="03_PREDICTIONS__pred2_r4c8"/>
              <p:cNvSpPr/>
              <p:nvPr/>
            </p:nvSpPr>
            <p:spPr>
              <a:xfrm>
                <a:off x="14163675" y="3905250"/>
                <a:ext cx="152400" cy="152400"/>
              </a:xfrm>
              <a:prstGeom prst="rect">
                <a:avLst/>
              </a:prstGeom>
              <a:solidFill>
                <a:srgbClr val="ECF3F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39" name="03_PREDICTIONS__pred2_r4c9"/>
              <p:cNvSpPr/>
              <p:nvPr/>
            </p:nvSpPr>
            <p:spPr>
              <a:xfrm>
                <a:off x="14316075" y="3905250"/>
                <a:ext cx="152400" cy="152400"/>
              </a:xfrm>
              <a:prstGeom prst="rect">
                <a:avLst/>
              </a:prstGeom>
              <a:solidFill>
                <a:srgbClr val="EDF4F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40" name="03_PREDICTIONS__pred2_r5c0"/>
              <p:cNvSpPr/>
              <p:nvPr/>
            </p:nvSpPr>
            <p:spPr>
              <a:xfrm>
                <a:off x="12944475" y="4057650"/>
                <a:ext cx="152400" cy="152400"/>
              </a:xfrm>
              <a:prstGeom prst="rect">
                <a:avLst/>
              </a:prstGeom>
              <a:solidFill>
                <a:srgbClr val="D8E8E7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41" name="03_PREDICTIONS__pred2_r5c1"/>
              <p:cNvSpPr/>
              <p:nvPr/>
            </p:nvSpPr>
            <p:spPr>
              <a:xfrm>
                <a:off x="13096875" y="4057650"/>
                <a:ext cx="152400" cy="152400"/>
              </a:xfrm>
              <a:prstGeom prst="rect">
                <a:avLst/>
              </a:prstGeom>
              <a:solidFill>
                <a:srgbClr val="CDE2E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42" name="03_PREDICTIONS__pred2_r5c2"/>
              <p:cNvSpPr/>
              <p:nvPr/>
            </p:nvSpPr>
            <p:spPr>
              <a:xfrm>
                <a:off x="13249275" y="4057650"/>
                <a:ext cx="152400" cy="152400"/>
              </a:xfrm>
              <a:prstGeom prst="rect">
                <a:avLst/>
              </a:prstGeom>
              <a:solidFill>
                <a:srgbClr val="C8DFDD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43" name="03_PREDICTIONS__pred2_r5c3"/>
              <p:cNvSpPr/>
              <p:nvPr/>
            </p:nvSpPr>
            <p:spPr>
              <a:xfrm>
                <a:off x="13401675" y="4057650"/>
                <a:ext cx="152400" cy="152400"/>
              </a:xfrm>
              <a:prstGeom prst="rect">
                <a:avLst/>
              </a:prstGeom>
              <a:solidFill>
                <a:srgbClr val="CBE1D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44" name="03_PREDICTIONS__pred2_r5c4"/>
              <p:cNvSpPr/>
              <p:nvPr/>
            </p:nvSpPr>
            <p:spPr>
              <a:xfrm>
                <a:off x="13554075" y="4057650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45" name="03_PREDICTIONS__pred2_r5c5"/>
              <p:cNvSpPr/>
              <p:nvPr/>
            </p:nvSpPr>
            <p:spPr>
              <a:xfrm>
                <a:off x="13706475" y="4057650"/>
                <a:ext cx="152400" cy="152400"/>
              </a:xfrm>
              <a:prstGeom prst="rect">
                <a:avLst/>
              </a:prstGeom>
              <a:solidFill>
                <a:srgbClr val="E0EDE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46" name="03_PREDICTIONS__pred2_r5c6"/>
              <p:cNvSpPr/>
              <p:nvPr/>
            </p:nvSpPr>
            <p:spPr>
              <a:xfrm>
                <a:off x="13858875" y="4057650"/>
                <a:ext cx="152400" cy="152400"/>
              </a:xfrm>
              <a:prstGeom prst="rect">
                <a:avLst/>
              </a:prstGeom>
              <a:solidFill>
                <a:srgbClr val="E8F1F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47" name="03_PREDICTIONS__pred2_r5c7"/>
              <p:cNvSpPr/>
              <p:nvPr/>
            </p:nvSpPr>
            <p:spPr>
              <a:xfrm>
                <a:off x="14011275" y="4057650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48" name="03_PREDICTIONS__pred2_r5c8"/>
              <p:cNvSpPr/>
              <p:nvPr/>
            </p:nvSpPr>
            <p:spPr>
              <a:xfrm>
                <a:off x="14163675" y="4057650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49" name="03_PREDICTIONS__pred2_r5c9"/>
              <p:cNvSpPr/>
              <p:nvPr/>
            </p:nvSpPr>
            <p:spPr>
              <a:xfrm>
                <a:off x="14316075" y="4057650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50" name="03_PREDICTIONS__pred2_r6c0"/>
              <p:cNvSpPr/>
              <p:nvPr/>
            </p:nvSpPr>
            <p:spPr>
              <a:xfrm>
                <a:off x="12944475" y="4210050"/>
                <a:ext cx="152400" cy="152400"/>
              </a:xfrm>
              <a:prstGeom prst="rect">
                <a:avLst/>
              </a:prstGeom>
              <a:solidFill>
                <a:srgbClr val="E9F1F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51" name="03_PREDICTIONS__pred2_r6c1"/>
              <p:cNvSpPr/>
              <p:nvPr/>
            </p:nvSpPr>
            <p:spPr>
              <a:xfrm>
                <a:off x="13096875" y="4210050"/>
                <a:ext cx="152400" cy="152400"/>
              </a:xfrm>
              <a:prstGeom prst="rect">
                <a:avLst/>
              </a:prstGeom>
              <a:solidFill>
                <a:srgbClr val="E6F0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52" name="03_PREDICTIONS__pred2_r6c2"/>
              <p:cNvSpPr/>
              <p:nvPr/>
            </p:nvSpPr>
            <p:spPr>
              <a:xfrm>
                <a:off x="13249275" y="4210050"/>
                <a:ext cx="152400" cy="152400"/>
              </a:xfrm>
              <a:prstGeom prst="rect">
                <a:avLst/>
              </a:prstGeom>
              <a:solidFill>
                <a:srgbClr val="E5EF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53" name="03_PREDICTIONS__pred2_r6c3"/>
              <p:cNvSpPr/>
              <p:nvPr/>
            </p:nvSpPr>
            <p:spPr>
              <a:xfrm>
                <a:off x="13401675" y="4210050"/>
                <a:ext cx="152400" cy="152400"/>
              </a:xfrm>
              <a:prstGeom prst="rect">
                <a:avLst/>
              </a:prstGeom>
              <a:solidFill>
                <a:srgbClr val="E6F0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54" name="03_PREDICTIONS__pred2_r6c4"/>
              <p:cNvSpPr/>
              <p:nvPr/>
            </p:nvSpPr>
            <p:spPr>
              <a:xfrm>
                <a:off x="13554075" y="4210050"/>
                <a:ext cx="152400" cy="15240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55" name="03_PREDICTIONS__pred2_r6c5"/>
              <p:cNvSpPr/>
              <p:nvPr/>
            </p:nvSpPr>
            <p:spPr>
              <a:xfrm>
                <a:off x="13706475" y="4210050"/>
                <a:ext cx="152400" cy="152400"/>
              </a:xfrm>
              <a:prstGeom prst="rect">
                <a:avLst/>
              </a:prstGeom>
              <a:solidFill>
                <a:srgbClr val="EBF2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56" name="03_PREDICTIONS__pred2_r6c6"/>
              <p:cNvSpPr/>
              <p:nvPr/>
            </p:nvSpPr>
            <p:spPr>
              <a:xfrm>
                <a:off x="13858875" y="4210050"/>
                <a:ext cx="152400" cy="152400"/>
              </a:xfrm>
              <a:prstGeom prst="rect">
                <a:avLst/>
              </a:prstGeom>
              <a:solidFill>
                <a:srgbClr val="ECF3F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57" name="03_PREDICTIONS__pred2_r6c7"/>
              <p:cNvSpPr/>
              <p:nvPr/>
            </p:nvSpPr>
            <p:spPr>
              <a:xfrm>
                <a:off x="14011275" y="4210050"/>
                <a:ext cx="152400" cy="152400"/>
              </a:xfrm>
              <a:prstGeom prst="rect">
                <a:avLst/>
              </a:prstGeom>
              <a:solidFill>
                <a:srgbClr val="EDF4F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58" name="03_PREDICTIONS__pred2_r6c8"/>
              <p:cNvSpPr/>
              <p:nvPr/>
            </p:nvSpPr>
            <p:spPr>
              <a:xfrm>
                <a:off x="14163675" y="4210050"/>
                <a:ext cx="152400" cy="152400"/>
              </a:xfrm>
              <a:prstGeom prst="rect">
                <a:avLst/>
              </a:prstGeom>
              <a:solidFill>
                <a:srgbClr val="EDF4F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59" name="03_PREDICTIONS__pred2_r6c9"/>
              <p:cNvSpPr/>
              <p:nvPr/>
            </p:nvSpPr>
            <p:spPr>
              <a:xfrm>
                <a:off x="14316075" y="4210050"/>
                <a:ext cx="152400" cy="152400"/>
              </a:xfrm>
              <a:prstGeom prst="rect">
                <a:avLst/>
              </a:prstGeom>
              <a:solidFill>
                <a:srgbClr val="EDF4F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60" name="03_PREDICTIONS__pred2_frame"/>
              <p:cNvSpPr/>
              <p:nvPr/>
            </p:nvSpPr>
            <p:spPr>
              <a:xfrm>
                <a:off x="12944475" y="3295650"/>
                <a:ext cx="1524000" cy="1066800"/>
              </a:xfrm>
              <a:prstGeom prst="rect">
                <a:avLst/>
              </a:prstGeom>
              <a:noFill/>
              <a:ln w="10478">
                <a:solidFill>
                  <a:srgbClr val="B6C4CC"/>
                </a:solidFill>
              </a:ln>
            </p:spPr>
          </p:sp>
        </p:grpSp>
        <p:sp>
          <p:nvSpPr>
            <p:cNvPr id="461" name="03_PREDICTIONS__source1"/>
            <p:cNvSpPr/>
            <p:nvPr/>
          </p:nvSpPr>
          <p:spPr>
            <a:xfrm>
              <a:off x="12534900" y="2676525"/>
              <a:ext cx="76200" cy="76200"/>
            </a:xfrm>
            <a:prstGeom prst="ellipse">
              <a:avLst/>
            </a:prstGeom>
            <a:solidFill>
              <a:srgbClr val="233440"/>
            </a:solidFill>
            <a:ln w="0">
              <a:noFill/>
            </a:ln>
          </p:spPr>
        </p:sp>
        <p:sp>
          <p:nvSpPr>
            <p:cNvPr id="462" name="03_PREDICTIONS__source2"/>
            <p:cNvSpPr/>
            <p:nvPr/>
          </p:nvSpPr>
          <p:spPr>
            <a:xfrm>
              <a:off x="13134975" y="3638550"/>
              <a:ext cx="76200" cy="76200"/>
            </a:xfrm>
            <a:prstGeom prst="ellipse">
              <a:avLst/>
            </a:prstGeom>
            <a:solidFill>
              <a:srgbClr val="233440"/>
            </a:solidFill>
            <a:ln w="0">
              <a:noFill/>
            </a:ln>
          </p:spPr>
        </p:sp>
        <p:sp>
          <p:nvSpPr>
            <p:cNvPr id="463" name="03_PREDICTIONS__source1_label"/>
            <p:cNvSpPr/>
            <p:nvPr/>
          </p:nvSpPr>
          <p:spPr>
            <a:xfrm>
              <a:off x="11849100" y="2238375"/>
              <a:ext cx="323850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75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75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s₁</a:t>
              </a:r>
              <a:endParaRPr sz="1875" b="0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64" name="03_PREDICTIONS__source2_label"/>
            <p:cNvSpPr/>
            <p:nvPr/>
          </p:nvSpPr>
          <p:spPr>
            <a:xfrm>
              <a:off x="12444095" y="3717925"/>
              <a:ext cx="323850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75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75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s₂</a:t>
              </a:r>
              <a:endParaRPr sz="1875" b="0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65" name="08_ROUTES__filaments_to_maps_port0"/>
            <p:cNvSpPr/>
            <p:nvPr/>
          </p:nvSpPr>
          <p:spPr>
            <a:xfrm>
              <a:off x="11486198" y="296132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466" name="08_ROUTES__filaments_to_maps_port1"/>
            <p:cNvSpPr/>
            <p:nvPr/>
          </p:nvSpPr>
          <p:spPr>
            <a:xfrm>
              <a:off x="11781473" y="296132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467" name="08_ROUTES__filaments_to_maps_port2"/>
            <p:cNvSpPr/>
            <p:nvPr/>
          </p:nvSpPr>
          <p:spPr>
            <a:xfrm>
              <a:off x="11781473" y="271367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468" name="08_ROUTES__filaments_to_maps_port3"/>
            <p:cNvSpPr/>
            <p:nvPr/>
          </p:nvSpPr>
          <p:spPr>
            <a:xfrm>
              <a:off x="12067223" y="271367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cxnSp>
          <p:nvCxnSpPr>
            <p:cNvPr id="1189" name="08_ROUTES__filaments_to_maps_segment0"/>
            <p:cNvCxnSpPr>
              <a:stCxn id="465" idx="3"/>
              <a:endCxn id="466" idx="1"/>
            </p:cNvCxnSpPr>
            <p:nvPr/>
          </p:nvCxnSpPr>
          <p:spPr>
            <a:xfrm>
              <a:off x="11488103" y="2962276"/>
              <a:ext cx="293370" cy="0"/>
            </a:xfrm>
            <a:prstGeom prst="straightConnector1">
              <a:avLst/>
            </a:prstGeom>
            <a:ln w="22860">
              <a:solidFill>
                <a:srgbClr val="26847D"/>
              </a:solidFill>
              <a:headEnd type="none"/>
              <a:tailEnd type="none" w="med" len="med"/>
            </a:ln>
          </p:spPr>
        </p:cxnSp>
        <p:cxnSp>
          <p:nvCxnSpPr>
            <p:cNvPr id="1190" name="08_ROUTES__filaments_to_maps_segment1"/>
            <p:cNvCxnSpPr>
              <a:stCxn id="466" idx="0"/>
              <a:endCxn id="467" idx="2"/>
            </p:cNvCxnSpPr>
            <p:nvPr/>
          </p:nvCxnSpPr>
          <p:spPr>
            <a:xfrm flipV="1">
              <a:off x="11782426" y="2715578"/>
              <a:ext cx="0" cy="245745"/>
            </a:xfrm>
            <a:prstGeom prst="straightConnector1">
              <a:avLst/>
            </a:prstGeom>
            <a:ln w="22860">
              <a:solidFill>
                <a:srgbClr val="26847D"/>
              </a:solidFill>
              <a:headEnd type="none"/>
              <a:tailEnd type="none" w="med" len="med"/>
            </a:ln>
          </p:spPr>
        </p:cxnSp>
        <p:cxnSp>
          <p:nvCxnSpPr>
            <p:cNvPr id="1191" name="08_ROUTES__filaments_to_maps_segment2"/>
            <p:cNvCxnSpPr>
              <a:stCxn id="467" idx="3"/>
              <a:endCxn id="468" idx="1"/>
            </p:cNvCxnSpPr>
            <p:nvPr/>
          </p:nvCxnSpPr>
          <p:spPr>
            <a:xfrm>
              <a:off x="11783378" y="2714626"/>
              <a:ext cx="283845" cy="0"/>
            </a:xfrm>
            <a:prstGeom prst="straightConnector1">
              <a:avLst/>
            </a:prstGeom>
            <a:ln w="22860">
              <a:solidFill>
                <a:srgbClr val="26847D"/>
              </a:solidFill>
              <a:headEnd type="none"/>
              <a:tailEnd type="triangle" w="med" len="med"/>
            </a:ln>
          </p:spPr>
        </p:cxnSp>
        <p:sp>
          <p:nvSpPr>
            <p:cNvPr id="472" name="03_PREDICTIONS__predicted_formula"/>
            <p:cNvSpPr/>
            <p:nvPr/>
          </p:nvSpPr>
          <p:spPr>
            <a:xfrm>
              <a:off x="12002135" y="4577080"/>
              <a:ext cx="2762250" cy="3143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025" b="0">
                  <a:solidFill>
                    <a:srgbClr val="26847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2025" b="0">
                  <a:solidFill>
                    <a:srgbClr val="26847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fˢᵢ = p(Hᵢ | S = s)</a:t>
              </a:r>
              <a:endParaRPr sz="2025" b="0">
                <a:solidFill>
                  <a:srgbClr val="26847D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73" name="03_PREDICTIONS__refine_title"/>
            <p:cNvSpPr/>
            <p:nvPr/>
          </p:nvSpPr>
          <p:spPr>
            <a:xfrm>
              <a:off x="6505575" y="4810125"/>
              <a:ext cx="4352925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75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75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Coarse-to-fine source refinement</a:t>
              </a:r>
              <a:endParaRPr sz="1875" b="0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697" name="03_PREDICTIONS__component_coarse"/>
            <p:cNvGrpSpPr/>
            <p:nvPr/>
          </p:nvGrpSpPr>
          <p:grpSpPr>
            <a:xfrm>
              <a:off x="10791825" y="4829175"/>
              <a:ext cx="304800" cy="304800"/>
              <a:chOff x="10791825" y="4829175"/>
              <a:chExt cx="304800" cy="304800"/>
            </a:xfrm>
          </p:grpSpPr>
          <p:sp>
            <p:nvSpPr>
              <p:cNvPr id="474" name="03_PREDICTIONS__coarse_00"/>
              <p:cNvSpPr/>
              <p:nvPr/>
            </p:nvSpPr>
            <p:spPr>
              <a:xfrm>
                <a:off x="10791825" y="4829175"/>
                <a:ext cx="152400" cy="152400"/>
              </a:xfrm>
              <a:prstGeom prst="rect">
                <a:avLst/>
              </a:prstGeom>
              <a:noFill/>
              <a:ln w="13335">
                <a:solidFill>
                  <a:srgbClr val="26847D"/>
                </a:solidFill>
              </a:ln>
            </p:spPr>
          </p:sp>
          <p:sp>
            <p:nvSpPr>
              <p:cNvPr id="475" name="03_PREDICTIONS__coarse_01"/>
              <p:cNvSpPr/>
              <p:nvPr/>
            </p:nvSpPr>
            <p:spPr>
              <a:xfrm>
                <a:off x="10944225" y="4829175"/>
                <a:ext cx="152400" cy="152400"/>
              </a:xfrm>
              <a:prstGeom prst="rect">
                <a:avLst/>
              </a:prstGeom>
              <a:noFill/>
              <a:ln w="13335">
                <a:solidFill>
                  <a:srgbClr val="26847D"/>
                </a:solidFill>
              </a:ln>
            </p:spPr>
          </p:sp>
          <p:sp>
            <p:nvSpPr>
              <p:cNvPr id="476" name="03_PREDICTIONS__coarse_10"/>
              <p:cNvSpPr/>
              <p:nvPr/>
            </p:nvSpPr>
            <p:spPr>
              <a:xfrm>
                <a:off x="10791825" y="4981575"/>
                <a:ext cx="152400" cy="152400"/>
              </a:xfrm>
              <a:prstGeom prst="rect">
                <a:avLst/>
              </a:prstGeom>
              <a:noFill/>
              <a:ln w="13335">
                <a:solidFill>
                  <a:srgbClr val="26847D"/>
                </a:solidFill>
              </a:ln>
            </p:spPr>
          </p:sp>
          <p:sp>
            <p:nvSpPr>
              <p:cNvPr id="477" name="03_PREDICTIONS__coarse_11"/>
              <p:cNvSpPr/>
              <p:nvPr/>
            </p:nvSpPr>
            <p:spPr>
              <a:xfrm>
                <a:off x="10944225" y="4981575"/>
                <a:ext cx="152400" cy="152400"/>
              </a:xfrm>
              <a:prstGeom prst="rect">
                <a:avLst/>
              </a:prstGeom>
              <a:noFill/>
              <a:ln w="13335">
                <a:solidFill>
                  <a:srgbClr val="26847D"/>
                </a:solidFill>
              </a:ln>
            </p:spPr>
          </p:sp>
        </p:grpSp>
        <p:sp>
          <p:nvSpPr>
            <p:cNvPr id="478" name="03_PREDICTIONS__refine_arrow"/>
            <p:cNvSpPr/>
            <p:nvPr/>
          </p:nvSpPr>
          <p:spPr>
            <a:xfrm>
              <a:off x="11220450" y="4981575"/>
              <a:ext cx="238125" cy="1905"/>
            </a:xfrm>
            <a:custGeom>
              <a:avLst/>
              <a:gdLst/>
              <a:ahLst/>
              <a:cxnLst/>
              <a:rect l="0" t="0" r="0" b="0"/>
              <a:pathLst>
                <a:path w="238125" h="190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19050">
              <a:solidFill>
                <a:srgbClr val="26847D"/>
              </a:solidFill>
              <a:prstDash val="solid"/>
            </a:ln>
          </p:spPr>
        </p:sp>
        <p:sp>
          <p:nvSpPr>
            <p:cNvPr id="479" name="03_PREDICTIONS__refine_arrow_head"/>
            <p:cNvSpPr/>
            <p:nvPr/>
          </p:nvSpPr>
          <p:spPr>
            <a:xfrm>
              <a:off x="11407883" y="4955184"/>
              <a:ext cx="50692" cy="52781"/>
            </a:xfrm>
            <a:custGeom>
              <a:avLst/>
              <a:gdLst/>
              <a:ahLst/>
              <a:cxnLst/>
              <a:rect l="0" t="0" r="0" b="0"/>
              <a:pathLst>
                <a:path w="50692" h="52781">
                  <a:moveTo>
                    <a:pt x="0" y="52781"/>
                  </a:moveTo>
                  <a:lnTo>
                    <a:pt x="50692" y="26391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6847D"/>
              </a:solidFill>
              <a:prstDash val="solid"/>
            </a:ln>
          </p:spPr>
        </p:sp>
        <p:grpSp>
          <p:nvGrpSpPr>
            <p:cNvPr id="698" name="03_PREDICTIONS__component_fine"/>
            <p:cNvGrpSpPr/>
            <p:nvPr/>
          </p:nvGrpSpPr>
          <p:grpSpPr>
            <a:xfrm>
              <a:off x="11591925" y="4829175"/>
              <a:ext cx="304800" cy="304800"/>
              <a:chOff x="11591925" y="4829175"/>
              <a:chExt cx="304800" cy="304800"/>
            </a:xfrm>
          </p:grpSpPr>
          <p:sp>
            <p:nvSpPr>
              <p:cNvPr id="480" name="03_PREDICTIONS__fine_00"/>
              <p:cNvSpPr/>
              <p:nvPr/>
            </p:nvSpPr>
            <p:spPr>
              <a:xfrm>
                <a:off x="11591925" y="4829175"/>
                <a:ext cx="76200" cy="76200"/>
              </a:xfrm>
              <a:prstGeom prst="rect">
                <a:avLst/>
              </a:prstGeom>
              <a:noFill/>
              <a:ln w="8573">
                <a:solidFill>
                  <a:srgbClr val="26847D"/>
                </a:solidFill>
              </a:ln>
            </p:spPr>
          </p:sp>
          <p:sp>
            <p:nvSpPr>
              <p:cNvPr id="481" name="03_PREDICTIONS__fine_01"/>
              <p:cNvSpPr/>
              <p:nvPr/>
            </p:nvSpPr>
            <p:spPr>
              <a:xfrm>
                <a:off x="11668125" y="4829175"/>
                <a:ext cx="76200" cy="76200"/>
              </a:xfrm>
              <a:prstGeom prst="rect">
                <a:avLst/>
              </a:prstGeom>
              <a:noFill/>
              <a:ln w="8573">
                <a:solidFill>
                  <a:srgbClr val="26847D"/>
                </a:solidFill>
              </a:ln>
            </p:spPr>
          </p:sp>
          <p:sp>
            <p:nvSpPr>
              <p:cNvPr id="482" name="03_PREDICTIONS__fine_02"/>
              <p:cNvSpPr/>
              <p:nvPr/>
            </p:nvSpPr>
            <p:spPr>
              <a:xfrm>
                <a:off x="11744325" y="4829175"/>
                <a:ext cx="76200" cy="76200"/>
              </a:xfrm>
              <a:prstGeom prst="rect">
                <a:avLst/>
              </a:prstGeom>
              <a:noFill/>
              <a:ln w="8573">
                <a:solidFill>
                  <a:srgbClr val="26847D"/>
                </a:solidFill>
              </a:ln>
            </p:spPr>
          </p:sp>
          <p:sp>
            <p:nvSpPr>
              <p:cNvPr id="483" name="03_PREDICTIONS__fine_03"/>
              <p:cNvSpPr/>
              <p:nvPr/>
            </p:nvSpPr>
            <p:spPr>
              <a:xfrm>
                <a:off x="11820525" y="4829175"/>
                <a:ext cx="76200" cy="76200"/>
              </a:xfrm>
              <a:prstGeom prst="rect">
                <a:avLst/>
              </a:prstGeom>
              <a:noFill/>
              <a:ln w="8573">
                <a:solidFill>
                  <a:srgbClr val="26847D"/>
                </a:solidFill>
              </a:ln>
            </p:spPr>
          </p:sp>
          <p:sp>
            <p:nvSpPr>
              <p:cNvPr id="484" name="03_PREDICTIONS__fine_10"/>
              <p:cNvSpPr/>
              <p:nvPr/>
            </p:nvSpPr>
            <p:spPr>
              <a:xfrm>
                <a:off x="11591925" y="4905375"/>
                <a:ext cx="76200" cy="76200"/>
              </a:xfrm>
              <a:prstGeom prst="rect">
                <a:avLst/>
              </a:prstGeom>
              <a:noFill/>
              <a:ln w="8573">
                <a:solidFill>
                  <a:srgbClr val="26847D"/>
                </a:solidFill>
              </a:ln>
            </p:spPr>
          </p:sp>
          <p:sp>
            <p:nvSpPr>
              <p:cNvPr id="485" name="03_PREDICTIONS__fine_11"/>
              <p:cNvSpPr/>
              <p:nvPr/>
            </p:nvSpPr>
            <p:spPr>
              <a:xfrm>
                <a:off x="11668125" y="4905375"/>
                <a:ext cx="76200" cy="76200"/>
              </a:xfrm>
              <a:prstGeom prst="rect">
                <a:avLst/>
              </a:prstGeom>
              <a:noFill/>
              <a:ln w="8573">
                <a:solidFill>
                  <a:srgbClr val="26847D"/>
                </a:solidFill>
              </a:ln>
            </p:spPr>
          </p:sp>
          <p:sp>
            <p:nvSpPr>
              <p:cNvPr id="486" name="03_PREDICTIONS__fine_12"/>
              <p:cNvSpPr/>
              <p:nvPr/>
            </p:nvSpPr>
            <p:spPr>
              <a:xfrm>
                <a:off x="11744325" y="4905375"/>
                <a:ext cx="76200" cy="76200"/>
              </a:xfrm>
              <a:prstGeom prst="rect">
                <a:avLst/>
              </a:prstGeom>
              <a:noFill/>
              <a:ln w="8573">
                <a:solidFill>
                  <a:srgbClr val="26847D"/>
                </a:solidFill>
              </a:ln>
            </p:spPr>
          </p:sp>
          <p:sp>
            <p:nvSpPr>
              <p:cNvPr id="487" name="03_PREDICTIONS__fine_13"/>
              <p:cNvSpPr/>
              <p:nvPr/>
            </p:nvSpPr>
            <p:spPr>
              <a:xfrm>
                <a:off x="11820525" y="4905375"/>
                <a:ext cx="76200" cy="76200"/>
              </a:xfrm>
              <a:prstGeom prst="rect">
                <a:avLst/>
              </a:prstGeom>
              <a:noFill/>
              <a:ln w="8573">
                <a:solidFill>
                  <a:srgbClr val="26847D"/>
                </a:solidFill>
              </a:ln>
            </p:spPr>
          </p:sp>
          <p:sp>
            <p:nvSpPr>
              <p:cNvPr id="488" name="03_PREDICTIONS__fine_20"/>
              <p:cNvSpPr/>
              <p:nvPr/>
            </p:nvSpPr>
            <p:spPr>
              <a:xfrm>
                <a:off x="11591925" y="4981575"/>
                <a:ext cx="76200" cy="76200"/>
              </a:xfrm>
              <a:prstGeom prst="rect">
                <a:avLst/>
              </a:prstGeom>
              <a:solidFill>
                <a:srgbClr val="A3CFC2"/>
              </a:solidFill>
              <a:ln w="8573">
                <a:solidFill>
                  <a:srgbClr val="26847D"/>
                </a:solidFill>
              </a:ln>
            </p:spPr>
          </p:sp>
          <p:sp>
            <p:nvSpPr>
              <p:cNvPr id="489" name="03_PREDICTIONS__fine_21"/>
              <p:cNvSpPr/>
              <p:nvPr/>
            </p:nvSpPr>
            <p:spPr>
              <a:xfrm>
                <a:off x="11668125" y="4981575"/>
                <a:ext cx="76200" cy="76200"/>
              </a:xfrm>
              <a:prstGeom prst="rect">
                <a:avLst/>
              </a:prstGeom>
              <a:solidFill>
                <a:srgbClr val="A3CFC2"/>
              </a:solidFill>
              <a:ln w="8573">
                <a:solidFill>
                  <a:srgbClr val="26847D"/>
                </a:solidFill>
              </a:ln>
            </p:spPr>
          </p:sp>
          <p:sp>
            <p:nvSpPr>
              <p:cNvPr id="490" name="03_PREDICTIONS__fine_22"/>
              <p:cNvSpPr/>
              <p:nvPr/>
            </p:nvSpPr>
            <p:spPr>
              <a:xfrm>
                <a:off x="11744325" y="4981575"/>
                <a:ext cx="76200" cy="76200"/>
              </a:xfrm>
              <a:prstGeom prst="rect">
                <a:avLst/>
              </a:prstGeom>
              <a:noFill/>
              <a:ln w="8573">
                <a:solidFill>
                  <a:srgbClr val="26847D"/>
                </a:solidFill>
              </a:ln>
            </p:spPr>
          </p:sp>
          <p:sp>
            <p:nvSpPr>
              <p:cNvPr id="491" name="03_PREDICTIONS__fine_23"/>
              <p:cNvSpPr/>
              <p:nvPr/>
            </p:nvSpPr>
            <p:spPr>
              <a:xfrm>
                <a:off x="11820525" y="4981575"/>
                <a:ext cx="76200" cy="76200"/>
              </a:xfrm>
              <a:prstGeom prst="rect">
                <a:avLst/>
              </a:prstGeom>
              <a:noFill/>
              <a:ln w="8573">
                <a:solidFill>
                  <a:srgbClr val="26847D"/>
                </a:solidFill>
              </a:ln>
            </p:spPr>
          </p:sp>
          <p:sp>
            <p:nvSpPr>
              <p:cNvPr id="492" name="03_PREDICTIONS__fine_30"/>
              <p:cNvSpPr/>
              <p:nvPr/>
            </p:nvSpPr>
            <p:spPr>
              <a:xfrm>
                <a:off x="11591925" y="5057775"/>
                <a:ext cx="76200" cy="76200"/>
              </a:xfrm>
              <a:prstGeom prst="rect">
                <a:avLst/>
              </a:prstGeom>
              <a:solidFill>
                <a:srgbClr val="A3CFC2"/>
              </a:solidFill>
              <a:ln w="8573">
                <a:solidFill>
                  <a:srgbClr val="26847D"/>
                </a:solidFill>
              </a:ln>
            </p:spPr>
          </p:sp>
          <p:sp>
            <p:nvSpPr>
              <p:cNvPr id="493" name="03_PREDICTIONS__fine_31"/>
              <p:cNvSpPr/>
              <p:nvPr/>
            </p:nvSpPr>
            <p:spPr>
              <a:xfrm>
                <a:off x="11668125" y="5057775"/>
                <a:ext cx="76200" cy="76200"/>
              </a:xfrm>
              <a:prstGeom prst="rect">
                <a:avLst/>
              </a:prstGeom>
              <a:solidFill>
                <a:srgbClr val="A3CFC2"/>
              </a:solidFill>
              <a:ln w="8573">
                <a:solidFill>
                  <a:srgbClr val="26847D"/>
                </a:solidFill>
              </a:ln>
            </p:spPr>
          </p:sp>
          <p:sp>
            <p:nvSpPr>
              <p:cNvPr id="494" name="03_PREDICTIONS__fine_32"/>
              <p:cNvSpPr/>
              <p:nvPr/>
            </p:nvSpPr>
            <p:spPr>
              <a:xfrm>
                <a:off x="11744325" y="5057775"/>
                <a:ext cx="76200" cy="76200"/>
              </a:xfrm>
              <a:prstGeom prst="rect">
                <a:avLst/>
              </a:prstGeom>
              <a:noFill/>
              <a:ln w="8573">
                <a:solidFill>
                  <a:srgbClr val="26847D"/>
                </a:solidFill>
              </a:ln>
            </p:spPr>
          </p:sp>
          <p:sp>
            <p:nvSpPr>
              <p:cNvPr id="495" name="03_PREDICTIONS__fine_33"/>
              <p:cNvSpPr/>
              <p:nvPr/>
            </p:nvSpPr>
            <p:spPr>
              <a:xfrm>
                <a:off x="11820525" y="5057775"/>
                <a:ext cx="76200" cy="76200"/>
              </a:xfrm>
              <a:prstGeom prst="rect">
                <a:avLst/>
              </a:prstGeom>
              <a:noFill/>
              <a:ln w="8573">
                <a:solidFill>
                  <a:srgbClr val="26847D"/>
                </a:solidFill>
              </a:ln>
            </p:spPr>
          </p:sp>
        </p:grpSp>
        <p:sp>
          <p:nvSpPr>
            <p:cNvPr id="687" name="08_ROUTES__context_to_mapping_port0"/>
            <p:cNvSpPr/>
            <p:nvPr/>
          </p:nvSpPr>
          <p:spPr>
            <a:xfrm>
              <a:off x="6485573" y="296132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93" name="08_ROUTES__predictions_to_comparison_port0"/>
            <p:cNvSpPr/>
            <p:nvPr/>
          </p:nvSpPr>
          <p:spPr>
            <a:xfrm>
              <a:off x="9162098" y="5428298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00" name="08_ROUTES__predictions_to_planning_port0"/>
            <p:cNvSpPr/>
            <p:nvPr/>
          </p:nvSpPr>
          <p:spPr>
            <a:xfrm>
              <a:off x="13505498" y="5428298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705" name="04_COMPARISON_ASSEMBLY"/>
          <p:cNvGrpSpPr/>
          <p:nvPr/>
        </p:nvGrpSpPr>
        <p:grpSpPr>
          <a:xfrm>
            <a:off x="381000" y="5799773"/>
            <a:ext cx="9240203" cy="2753677"/>
            <a:chOff x="381000" y="5799773"/>
            <a:chExt cx="9240203" cy="2753677"/>
          </a:xfrm>
        </p:grpSpPr>
        <p:sp>
          <p:nvSpPr>
            <p:cNvPr id="496" name="01_REGIONS__compare_panel"/>
            <p:cNvSpPr/>
            <p:nvPr/>
          </p:nvSpPr>
          <p:spPr>
            <a:xfrm>
              <a:off x="381000" y="5810250"/>
              <a:ext cx="9239250" cy="2743200"/>
            </a:xfrm>
            <a:prstGeom prst="roundRect">
              <a:avLst>
                <a:gd name="adj" fmla="val 6250"/>
              </a:avLst>
            </a:prstGeom>
            <a:solidFill>
              <a:srgbClr val="F5F3F8"/>
            </a:solidFill>
            <a:ln w="0">
              <a:noFill/>
            </a:ln>
          </p:spPr>
        </p:sp>
        <p:sp>
          <p:nvSpPr>
            <p:cNvPr id="497" name="04_COMPARISON__compare_letter"/>
            <p:cNvSpPr/>
            <p:nvPr/>
          </p:nvSpPr>
          <p:spPr>
            <a:xfrm>
              <a:off x="590550" y="5991225"/>
              <a:ext cx="295275" cy="3524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75" b="1">
                  <a:solidFill>
                    <a:srgbClr val="6C648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2175" b="1">
                  <a:solidFill>
                    <a:srgbClr val="6C648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endParaRPr sz="2175" b="1">
                <a:solidFill>
                  <a:srgbClr val="6C648E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98" name="04_COMPARISON__compare_heading"/>
            <p:cNvSpPr/>
            <p:nvPr/>
          </p:nvSpPr>
          <p:spPr>
            <a:xfrm>
              <a:off x="971550" y="5991225"/>
              <a:ext cx="8429625" cy="3524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75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2175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Confidence-weighted map comparison</a:t>
              </a:r>
              <a:endParaRPr sz="2175" b="1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99" name="04_COMPARISON__match_observed_label"/>
            <p:cNvSpPr/>
            <p:nvPr/>
          </p:nvSpPr>
          <p:spPr>
            <a:xfrm>
              <a:off x="628650" y="6429375"/>
              <a:ext cx="1381125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00" b="1">
                  <a:solidFill>
                    <a:srgbClr val="326D9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00" b="1">
                  <a:solidFill>
                    <a:srgbClr val="326D9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Measured</a:t>
              </a:r>
              <a:endParaRPr sz="1800" b="1">
                <a:solidFill>
                  <a:srgbClr val="326D9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00" name="04_COMPARISON__match_predicted_label"/>
            <p:cNvSpPr/>
            <p:nvPr/>
          </p:nvSpPr>
          <p:spPr>
            <a:xfrm>
              <a:off x="628650" y="6896100"/>
              <a:ext cx="1381125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00" b="1">
                  <a:solidFill>
                    <a:srgbClr val="26847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00" b="1">
                  <a:solidFill>
                    <a:srgbClr val="26847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Predicted</a:t>
              </a:r>
              <a:endParaRPr sz="1800" b="1">
                <a:solidFill>
                  <a:srgbClr val="26847D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01" name="04_COMPARISON__obs_cell0"/>
            <p:cNvSpPr/>
            <p:nvPr/>
          </p:nvSpPr>
          <p:spPr>
            <a:xfrm>
              <a:off x="1971675" y="6457950"/>
              <a:ext cx="247650" cy="247650"/>
            </a:xfrm>
            <a:prstGeom prst="rect">
              <a:avLst/>
            </a:prstGeom>
            <a:solidFill>
              <a:srgbClr val="DDE8EE"/>
            </a:solidFill>
            <a:ln w="9525">
              <a:solidFill>
                <a:srgbClr val="FFFFFF"/>
              </a:solidFill>
            </a:ln>
          </p:spPr>
        </p:sp>
        <p:sp>
          <p:nvSpPr>
            <p:cNvPr id="502" name="04_COMPARISON__obs_cell1"/>
            <p:cNvSpPr/>
            <p:nvPr/>
          </p:nvSpPr>
          <p:spPr>
            <a:xfrm>
              <a:off x="2238375" y="6457950"/>
              <a:ext cx="247650" cy="247650"/>
            </a:xfrm>
            <a:prstGeom prst="rect">
              <a:avLst/>
            </a:prstGeom>
            <a:solidFill>
              <a:srgbClr val="CCDBE5"/>
            </a:solidFill>
            <a:ln w="9525">
              <a:solidFill>
                <a:srgbClr val="FFFFFF"/>
              </a:solidFill>
            </a:ln>
          </p:spPr>
        </p:sp>
        <p:sp>
          <p:nvSpPr>
            <p:cNvPr id="503" name="04_COMPARISON__obs_cell2"/>
            <p:cNvSpPr/>
            <p:nvPr/>
          </p:nvSpPr>
          <p:spPr>
            <a:xfrm>
              <a:off x="2505075" y="6457950"/>
              <a:ext cx="247650" cy="247650"/>
            </a:xfrm>
            <a:prstGeom prst="rect">
              <a:avLst/>
            </a:prstGeom>
            <a:solidFill>
              <a:srgbClr val="A6C0D3"/>
            </a:solidFill>
            <a:ln w="9525">
              <a:solidFill>
                <a:srgbClr val="FFFFFF"/>
              </a:solidFill>
            </a:ln>
          </p:spPr>
        </p:sp>
        <p:sp>
          <p:nvSpPr>
            <p:cNvPr id="504" name="04_COMPARISON__obs_cell3"/>
            <p:cNvSpPr/>
            <p:nvPr/>
          </p:nvSpPr>
          <p:spPr>
            <a:xfrm>
              <a:off x="2771775" y="6457950"/>
              <a:ext cx="247650" cy="247650"/>
            </a:xfrm>
            <a:prstGeom prst="rect">
              <a:avLst/>
            </a:prstGeom>
            <a:solidFill>
              <a:srgbClr val="739CBA"/>
            </a:solidFill>
            <a:ln w="9525">
              <a:solidFill>
                <a:srgbClr val="FFFFFF"/>
              </a:solidFill>
            </a:ln>
          </p:spPr>
        </p:sp>
        <p:sp>
          <p:nvSpPr>
            <p:cNvPr id="505" name="04_COMPARISON__obs_cell4"/>
            <p:cNvSpPr/>
            <p:nvPr/>
          </p:nvSpPr>
          <p:spPr>
            <a:xfrm>
              <a:off x="3038475" y="6457950"/>
              <a:ext cx="247650" cy="247650"/>
            </a:xfrm>
            <a:prstGeom prst="rect">
              <a:avLst/>
            </a:prstGeom>
            <a:solidFill>
              <a:srgbClr val="447AA3"/>
            </a:solidFill>
            <a:ln w="9525">
              <a:solidFill>
                <a:srgbClr val="FFFFFF"/>
              </a:solidFill>
            </a:ln>
          </p:spPr>
        </p:sp>
        <p:sp>
          <p:nvSpPr>
            <p:cNvPr id="506" name="04_COMPARISON__obs_cell5"/>
            <p:cNvSpPr/>
            <p:nvPr/>
          </p:nvSpPr>
          <p:spPr>
            <a:xfrm>
              <a:off x="3305175" y="6457950"/>
              <a:ext cx="247650" cy="247650"/>
            </a:xfrm>
            <a:prstGeom prst="rect">
              <a:avLst/>
            </a:prstGeom>
            <a:solidFill>
              <a:srgbClr val="6793B4"/>
            </a:solidFill>
            <a:ln w="9525">
              <a:solidFill>
                <a:srgbClr val="FFFFFF"/>
              </a:solidFill>
            </a:ln>
          </p:spPr>
        </p:sp>
        <p:sp>
          <p:nvSpPr>
            <p:cNvPr id="507" name="04_COMPARISON__obs_cell6"/>
            <p:cNvSpPr/>
            <p:nvPr/>
          </p:nvSpPr>
          <p:spPr>
            <a:xfrm>
              <a:off x="3571875" y="6457950"/>
              <a:ext cx="247650" cy="247650"/>
            </a:xfrm>
            <a:prstGeom prst="rect">
              <a:avLst/>
            </a:prstGeom>
            <a:solidFill>
              <a:srgbClr val="93B2C9"/>
            </a:solidFill>
            <a:ln w="9525">
              <a:solidFill>
                <a:srgbClr val="FFFFFF"/>
              </a:solidFill>
            </a:ln>
          </p:spPr>
        </p:sp>
        <p:sp>
          <p:nvSpPr>
            <p:cNvPr id="508" name="04_COMPARISON__pred_cell0"/>
            <p:cNvSpPr/>
            <p:nvPr/>
          </p:nvSpPr>
          <p:spPr>
            <a:xfrm>
              <a:off x="1971675" y="6924675"/>
              <a:ext cx="247650" cy="247650"/>
            </a:xfrm>
            <a:prstGeom prst="rect">
              <a:avLst/>
            </a:prstGeom>
            <a:solidFill>
              <a:srgbClr val="E2EEEE"/>
            </a:solidFill>
            <a:ln w="9525">
              <a:solidFill>
                <a:srgbClr val="FFFFFF"/>
              </a:solidFill>
            </a:ln>
          </p:spPr>
        </p:sp>
        <p:sp>
          <p:nvSpPr>
            <p:cNvPr id="509" name="04_COMPARISON__pred_cell1"/>
            <p:cNvSpPr/>
            <p:nvPr/>
          </p:nvSpPr>
          <p:spPr>
            <a:xfrm>
              <a:off x="2238375" y="6924675"/>
              <a:ext cx="247650" cy="247650"/>
            </a:xfrm>
            <a:prstGeom prst="rect">
              <a:avLst/>
            </a:prstGeom>
            <a:solidFill>
              <a:srgbClr val="C1DBDA"/>
            </a:solidFill>
            <a:ln w="9525">
              <a:solidFill>
                <a:srgbClr val="FFFFFF"/>
              </a:solidFill>
            </a:ln>
          </p:spPr>
        </p:sp>
        <p:sp>
          <p:nvSpPr>
            <p:cNvPr id="510" name="04_COMPARISON__pred_cell2"/>
            <p:cNvSpPr/>
            <p:nvPr/>
          </p:nvSpPr>
          <p:spPr>
            <a:xfrm>
              <a:off x="2505075" y="6924675"/>
              <a:ext cx="247650" cy="247650"/>
            </a:xfrm>
            <a:prstGeom prst="rect">
              <a:avLst/>
            </a:prstGeom>
            <a:solidFill>
              <a:srgbClr val="95C3BF"/>
            </a:solidFill>
            <a:ln w="9525">
              <a:solidFill>
                <a:srgbClr val="FFFFFF"/>
              </a:solidFill>
            </a:ln>
          </p:spPr>
        </p:sp>
        <p:sp>
          <p:nvSpPr>
            <p:cNvPr id="511" name="04_COMPARISON__pred_cell3"/>
            <p:cNvSpPr/>
            <p:nvPr/>
          </p:nvSpPr>
          <p:spPr>
            <a:xfrm>
              <a:off x="2771775" y="6924675"/>
              <a:ext cx="247650" cy="247650"/>
            </a:xfrm>
            <a:prstGeom prst="rect">
              <a:avLst/>
            </a:prstGeom>
            <a:solidFill>
              <a:srgbClr val="6DACA8"/>
            </a:solidFill>
            <a:ln w="9525">
              <a:solidFill>
                <a:srgbClr val="FFFFFF"/>
              </a:solidFill>
            </a:ln>
          </p:spPr>
        </p:sp>
        <p:sp>
          <p:nvSpPr>
            <p:cNvPr id="512" name="04_COMPARISON__pred_cell4"/>
            <p:cNvSpPr/>
            <p:nvPr/>
          </p:nvSpPr>
          <p:spPr>
            <a:xfrm>
              <a:off x="3038475" y="6924675"/>
              <a:ext cx="247650" cy="247650"/>
            </a:xfrm>
            <a:prstGeom prst="rect">
              <a:avLst/>
            </a:prstGeom>
            <a:solidFill>
              <a:srgbClr val="43958F"/>
            </a:solidFill>
            <a:ln w="9525">
              <a:solidFill>
                <a:srgbClr val="FFFFFF"/>
              </a:solidFill>
            </a:ln>
          </p:spPr>
        </p:sp>
        <p:sp>
          <p:nvSpPr>
            <p:cNvPr id="513" name="04_COMPARISON__pred_cell5"/>
            <p:cNvSpPr/>
            <p:nvPr/>
          </p:nvSpPr>
          <p:spPr>
            <a:xfrm>
              <a:off x="3305175" y="6924675"/>
              <a:ext cx="247650" cy="247650"/>
            </a:xfrm>
            <a:prstGeom prst="rect">
              <a:avLst/>
            </a:prstGeom>
            <a:solidFill>
              <a:srgbClr val="549E99"/>
            </a:solidFill>
            <a:ln w="9525">
              <a:solidFill>
                <a:srgbClr val="FFFFFF"/>
              </a:solidFill>
            </a:ln>
          </p:spPr>
        </p:sp>
        <p:sp>
          <p:nvSpPr>
            <p:cNvPr id="514" name="04_COMPARISON__pred_cell6"/>
            <p:cNvSpPr/>
            <p:nvPr/>
          </p:nvSpPr>
          <p:spPr>
            <a:xfrm>
              <a:off x="3571875" y="6924675"/>
              <a:ext cx="247650" cy="247650"/>
            </a:xfrm>
            <a:prstGeom prst="rect">
              <a:avLst/>
            </a:prstGeom>
            <a:solidFill>
              <a:srgbClr val="91C0BD"/>
            </a:solidFill>
            <a:ln w="9525">
              <a:solidFill>
                <a:srgbClr val="FFFFFF"/>
              </a:solidFill>
            </a:ln>
          </p:spPr>
        </p:sp>
        <p:sp>
          <p:nvSpPr>
            <p:cNvPr id="515" name="04_COMPARISON__align_cell0"/>
            <p:cNvSpPr/>
            <p:nvPr/>
          </p:nvSpPr>
          <p:spPr>
            <a:xfrm>
              <a:off x="2095500" y="6724650"/>
              <a:ext cx="1905" cy="161925"/>
            </a:xfrm>
            <a:custGeom>
              <a:avLst/>
              <a:gdLst/>
              <a:ahLst/>
              <a:cxnLst/>
              <a:rect l="0" t="0" r="0" b="0"/>
              <a:pathLst>
                <a:path w="1905" h="161925">
                  <a:moveTo>
                    <a:pt x="0" y="0"/>
                  </a:moveTo>
                  <a:lnTo>
                    <a:pt x="0" y="161925"/>
                  </a:lnTo>
                </a:path>
              </a:pathLst>
            </a:custGeom>
            <a:noFill/>
            <a:ln w="11430">
              <a:solidFill>
                <a:srgbClr val="B6C4CC"/>
              </a:solidFill>
              <a:prstDash val="solid"/>
            </a:ln>
          </p:spPr>
        </p:sp>
        <p:sp>
          <p:nvSpPr>
            <p:cNvPr id="516" name="04_COMPARISON__align_cell1"/>
            <p:cNvSpPr/>
            <p:nvPr/>
          </p:nvSpPr>
          <p:spPr>
            <a:xfrm>
              <a:off x="2362200" y="6724650"/>
              <a:ext cx="1905" cy="161925"/>
            </a:xfrm>
            <a:custGeom>
              <a:avLst/>
              <a:gdLst/>
              <a:ahLst/>
              <a:cxnLst/>
              <a:rect l="0" t="0" r="0" b="0"/>
              <a:pathLst>
                <a:path w="1905" h="161925">
                  <a:moveTo>
                    <a:pt x="0" y="0"/>
                  </a:moveTo>
                  <a:lnTo>
                    <a:pt x="0" y="161925"/>
                  </a:lnTo>
                </a:path>
              </a:pathLst>
            </a:custGeom>
            <a:noFill/>
            <a:ln w="11430">
              <a:solidFill>
                <a:srgbClr val="B6C4CC"/>
              </a:solidFill>
              <a:prstDash val="solid"/>
            </a:ln>
          </p:spPr>
        </p:sp>
        <p:sp>
          <p:nvSpPr>
            <p:cNvPr id="517" name="04_COMPARISON__align_cell2"/>
            <p:cNvSpPr/>
            <p:nvPr/>
          </p:nvSpPr>
          <p:spPr>
            <a:xfrm>
              <a:off x="2628900" y="6724650"/>
              <a:ext cx="1905" cy="161925"/>
            </a:xfrm>
            <a:custGeom>
              <a:avLst/>
              <a:gdLst/>
              <a:ahLst/>
              <a:cxnLst/>
              <a:rect l="0" t="0" r="0" b="0"/>
              <a:pathLst>
                <a:path w="1905" h="161925">
                  <a:moveTo>
                    <a:pt x="0" y="0"/>
                  </a:moveTo>
                  <a:lnTo>
                    <a:pt x="0" y="161925"/>
                  </a:lnTo>
                </a:path>
              </a:pathLst>
            </a:custGeom>
            <a:noFill/>
            <a:ln w="11430">
              <a:solidFill>
                <a:srgbClr val="B6C4CC"/>
              </a:solidFill>
              <a:prstDash val="solid"/>
            </a:ln>
          </p:spPr>
        </p:sp>
        <p:sp>
          <p:nvSpPr>
            <p:cNvPr id="518" name="04_COMPARISON__align_cell3"/>
            <p:cNvSpPr/>
            <p:nvPr/>
          </p:nvSpPr>
          <p:spPr>
            <a:xfrm>
              <a:off x="2895600" y="6724650"/>
              <a:ext cx="1905" cy="161925"/>
            </a:xfrm>
            <a:custGeom>
              <a:avLst/>
              <a:gdLst/>
              <a:ahLst/>
              <a:cxnLst/>
              <a:rect l="0" t="0" r="0" b="0"/>
              <a:pathLst>
                <a:path w="1905" h="161925">
                  <a:moveTo>
                    <a:pt x="0" y="0"/>
                  </a:moveTo>
                  <a:lnTo>
                    <a:pt x="0" y="161925"/>
                  </a:lnTo>
                </a:path>
              </a:pathLst>
            </a:custGeom>
            <a:noFill/>
            <a:ln w="11430">
              <a:solidFill>
                <a:srgbClr val="B6C4CC"/>
              </a:solidFill>
              <a:prstDash val="solid"/>
            </a:ln>
          </p:spPr>
        </p:sp>
        <p:sp>
          <p:nvSpPr>
            <p:cNvPr id="519" name="04_COMPARISON__align_cell4"/>
            <p:cNvSpPr/>
            <p:nvPr/>
          </p:nvSpPr>
          <p:spPr>
            <a:xfrm>
              <a:off x="3162300" y="6724650"/>
              <a:ext cx="1905" cy="161925"/>
            </a:xfrm>
            <a:custGeom>
              <a:avLst/>
              <a:gdLst/>
              <a:ahLst/>
              <a:cxnLst/>
              <a:rect l="0" t="0" r="0" b="0"/>
              <a:pathLst>
                <a:path w="1905" h="161925">
                  <a:moveTo>
                    <a:pt x="0" y="0"/>
                  </a:moveTo>
                  <a:lnTo>
                    <a:pt x="0" y="161925"/>
                  </a:lnTo>
                </a:path>
              </a:pathLst>
            </a:custGeom>
            <a:noFill/>
            <a:ln w="11430">
              <a:solidFill>
                <a:srgbClr val="B6C4CC"/>
              </a:solidFill>
              <a:prstDash val="solid"/>
            </a:ln>
          </p:spPr>
        </p:sp>
        <p:sp>
          <p:nvSpPr>
            <p:cNvPr id="520" name="04_COMPARISON__align_cell5"/>
            <p:cNvSpPr/>
            <p:nvPr/>
          </p:nvSpPr>
          <p:spPr>
            <a:xfrm>
              <a:off x="3429000" y="6724650"/>
              <a:ext cx="1905" cy="161925"/>
            </a:xfrm>
            <a:custGeom>
              <a:avLst/>
              <a:gdLst/>
              <a:ahLst/>
              <a:cxnLst/>
              <a:rect l="0" t="0" r="0" b="0"/>
              <a:pathLst>
                <a:path w="1905" h="161925">
                  <a:moveTo>
                    <a:pt x="0" y="0"/>
                  </a:moveTo>
                  <a:lnTo>
                    <a:pt x="0" y="161925"/>
                  </a:lnTo>
                </a:path>
              </a:pathLst>
            </a:custGeom>
            <a:noFill/>
            <a:ln w="11430">
              <a:solidFill>
                <a:srgbClr val="B6C4CC"/>
              </a:solidFill>
              <a:prstDash val="solid"/>
            </a:ln>
          </p:spPr>
        </p:sp>
        <p:sp>
          <p:nvSpPr>
            <p:cNvPr id="521" name="04_COMPARISON__align_cell6"/>
            <p:cNvSpPr/>
            <p:nvPr/>
          </p:nvSpPr>
          <p:spPr>
            <a:xfrm>
              <a:off x="3695700" y="6724650"/>
              <a:ext cx="1905" cy="161925"/>
            </a:xfrm>
            <a:custGeom>
              <a:avLst/>
              <a:gdLst/>
              <a:ahLst/>
              <a:cxnLst/>
              <a:rect l="0" t="0" r="0" b="0"/>
              <a:pathLst>
                <a:path w="1905" h="161925">
                  <a:moveTo>
                    <a:pt x="0" y="0"/>
                  </a:moveTo>
                  <a:lnTo>
                    <a:pt x="0" y="161925"/>
                  </a:lnTo>
                </a:path>
              </a:pathLst>
            </a:custGeom>
            <a:noFill/>
            <a:ln w="11430">
              <a:solidFill>
                <a:srgbClr val="B6C4CC"/>
              </a:solidFill>
              <a:prstDash val="solid"/>
            </a:ln>
          </p:spPr>
        </p:sp>
        <p:sp>
          <p:nvSpPr>
            <p:cNvPr id="522" name="04_COMPARISON__cell_comparison"/>
            <p:cNvSpPr/>
            <p:nvPr/>
          </p:nvSpPr>
          <p:spPr>
            <a:xfrm>
              <a:off x="619125" y="7429500"/>
              <a:ext cx="3524250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00" b="0">
                  <a:solidFill>
                    <a:srgbClr val="54657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00" b="0">
                  <a:solidFill>
                    <a:srgbClr val="54657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Same cells, different sources</a:t>
              </a:r>
              <a:endParaRPr sz="1800" b="0">
                <a:solidFill>
                  <a:srgbClr val="54657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23" name="08_ROUTES__strips_to_product_port0"/>
            <p:cNvSpPr/>
            <p:nvPr/>
          </p:nvSpPr>
          <p:spPr>
            <a:xfrm>
              <a:off x="3913823" y="682847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524" name="08_ROUTES__strips_to_product_port1"/>
            <p:cNvSpPr/>
            <p:nvPr/>
          </p:nvSpPr>
          <p:spPr>
            <a:xfrm>
              <a:off x="4218623" y="682847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cxnSp>
          <p:nvCxnSpPr>
            <p:cNvPr id="1245" name="08_ROUTES__strips_to_product_segment0"/>
            <p:cNvCxnSpPr>
              <a:stCxn id="523" idx="3"/>
              <a:endCxn id="524" idx="1"/>
            </p:cNvCxnSpPr>
            <p:nvPr/>
          </p:nvCxnSpPr>
          <p:spPr>
            <a:xfrm>
              <a:off x="3915728" y="6829426"/>
              <a:ext cx="302895" cy="0"/>
            </a:xfrm>
            <a:prstGeom prst="straightConnector1">
              <a:avLst/>
            </a:prstGeom>
            <a:ln w="22860">
              <a:solidFill>
                <a:srgbClr val="6C648E"/>
              </a:solidFill>
              <a:headEnd type="none"/>
              <a:tailEnd type="triangle" w="med" len="med"/>
            </a:ln>
          </p:spPr>
        </p:cxnSp>
        <p:sp>
          <p:nvSpPr>
            <p:cNvPr id="526" name="04_COMPARISON__agreement_title"/>
            <p:cNvSpPr/>
            <p:nvPr/>
          </p:nvSpPr>
          <p:spPr>
            <a:xfrm>
              <a:off x="4343400" y="6486525"/>
              <a:ext cx="2762250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75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75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Compare each cell</a:t>
              </a:r>
              <a:endParaRPr sz="1875" b="1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27" name="04_COMPARISON__agreement_equation"/>
            <p:cNvSpPr/>
            <p:nvPr/>
          </p:nvSpPr>
          <p:spPr>
            <a:xfrm>
              <a:off x="4343400" y="6877050"/>
              <a:ext cx="2762250" cy="3524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75" b="0">
                  <a:solidFill>
                    <a:srgbClr val="6C648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2175" b="0">
                  <a:solidFill>
                    <a:srgbClr val="6C648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1 − αᵢ |fᶻᵢ − fˢᵢ|</a:t>
              </a:r>
              <a:endParaRPr sz="2175" b="0">
                <a:solidFill>
                  <a:srgbClr val="6C648E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28" name="04_COMPARISON__product"/>
            <p:cNvSpPr/>
            <p:nvPr/>
          </p:nvSpPr>
          <p:spPr>
            <a:xfrm>
              <a:off x="4295775" y="7448550"/>
              <a:ext cx="2762250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00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00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Multiply &amp; normalize</a:t>
              </a:r>
              <a:endParaRPr sz="1800" b="0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29" name="08_ROUTES__score_to_distribution_port0"/>
            <p:cNvSpPr/>
            <p:nvPr/>
          </p:nvSpPr>
          <p:spPr>
            <a:xfrm>
              <a:off x="6714173" y="711422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530" name="08_ROUTES__score_to_distribution_port1"/>
            <p:cNvSpPr/>
            <p:nvPr/>
          </p:nvSpPr>
          <p:spPr>
            <a:xfrm>
              <a:off x="7057073" y="711422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cxnSp>
          <p:nvCxnSpPr>
            <p:cNvPr id="1251" name="08_ROUTES__score_to_distribution_segment0"/>
            <p:cNvCxnSpPr>
              <a:stCxn id="529" idx="3"/>
              <a:endCxn id="530" idx="1"/>
            </p:cNvCxnSpPr>
            <p:nvPr/>
          </p:nvCxnSpPr>
          <p:spPr>
            <a:xfrm>
              <a:off x="6716078" y="7115176"/>
              <a:ext cx="340995" cy="0"/>
            </a:xfrm>
            <a:prstGeom prst="straightConnector1">
              <a:avLst/>
            </a:prstGeom>
            <a:ln w="22860">
              <a:solidFill>
                <a:srgbClr val="6C648E"/>
              </a:solidFill>
              <a:headEnd type="none"/>
              <a:tailEnd type="triangle" w="med" len="med"/>
            </a:ln>
          </p:spPr>
        </p:cxnSp>
        <p:grpSp>
          <p:nvGrpSpPr>
            <p:cNvPr id="702" name="04_COMPARISON__component_source_distribution"/>
            <p:cNvGrpSpPr/>
            <p:nvPr/>
          </p:nvGrpSpPr>
          <p:grpSpPr>
            <a:xfrm>
              <a:off x="7172325" y="6438900"/>
              <a:ext cx="2095500" cy="1466850"/>
              <a:chOff x="7172325" y="6438900"/>
              <a:chExt cx="2095500" cy="1466850"/>
            </a:xfrm>
          </p:grpSpPr>
          <p:sp>
            <p:nvSpPr>
              <p:cNvPr id="532" name="04_COMPARISON__source_distribution_r0c0"/>
              <p:cNvSpPr/>
              <p:nvPr/>
            </p:nvSpPr>
            <p:spPr>
              <a:xfrm>
                <a:off x="7172325" y="64389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33" name="04_COMPARISON__source_distribution_r0c1"/>
              <p:cNvSpPr/>
              <p:nvPr/>
            </p:nvSpPr>
            <p:spPr>
              <a:xfrm>
                <a:off x="7381875" y="64389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34" name="04_COMPARISON__source_distribution_r0c2"/>
              <p:cNvSpPr/>
              <p:nvPr/>
            </p:nvSpPr>
            <p:spPr>
              <a:xfrm>
                <a:off x="7591425" y="64389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35" name="04_COMPARISON__source_distribution_r0c3"/>
              <p:cNvSpPr/>
              <p:nvPr/>
            </p:nvSpPr>
            <p:spPr>
              <a:xfrm>
                <a:off x="7800975" y="64389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36" name="04_COMPARISON__source_distribution_r0c4"/>
              <p:cNvSpPr/>
              <p:nvPr/>
            </p:nvSpPr>
            <p:spPr>
              <a:xfrm>
                <a:off x="8010525" y="643890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37" name="04_COMPARISON__source_distribution_r0c5"/>
              <p:cNvSpPr/>
              <p:nvPr/>
            </p:nvSpPr>
            <p:spPr>
              <a:xfrm>
                <a:off x="8220075" y="64389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38" name="04_COMPARISON__source_distribution_r0c6"/>
              <p:cNvSpPr/>
              <p:nvPr/>
            </p:nvSpPr>
            <p:spPr>
              <a:xfrm>
                <a:off x="8429625" y="64389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39" name="04_COMPARISON__source_distribution_r0c7"/>
              <p:cNvSpPr/>
              <p:nvPr/>
            </p:nvSpPr>
            <p:spPr>
              <a:xfrm>
                <a:off x="8639175" y="64389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40" name="04_COMPARISON__source_distribution_r0c8"/>
              <p:cNvSpPr/>
              <p:nvPr/>
            </p:nvSpPr>
            <p:spPr>
              <a:xfrm>
                <a:off x="8848725" y="64389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41" name="04_COMPARISON__source_distribution_r0c9"/>
              <p:cNvSpPr/>
              <p:nvPr/>
            </p:nvSpPr>
            <p:spPr>
              <a:xfrm>
                <a:off x="9058275" y="64389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42" name="04_COMPARISON__source_distribution_r1c0"/>
              <p:cNvSpPr/>
              <p:nvPr/>
            </p:nvSpPr>
            <p:spPr>
              <a:xfrm>
                <a:off x="7172325" y="6648450"/>
                <a:ext cx="209550" cy="209550"/>
              </a:xfrm>
              <a:prstGeom prst="rect">
                <a:avLst/>
              </a:prstGeom>
              <a:solidFill>
                <a:srgbClr val="F1F3F5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43" name="04_COMPARISON__source_distribution_r1c1"/>
              <p:cNvSpPr/>
              <p:nvPr/>
            </p:nvSpPr>
            <p:spPr>
              <a:xfrm>
                <a:off x="7381875" y="6648450"/>
                <a:ext cx="209550" cy="209550"/>
              </a:xfrm>
              <a:prstGeom prst="rect">
                <a:avLst/>
              </a:prstGeom>
              <a:solidFill>
                <a:srgbClr val="EFF1F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44" name="04_COMPARISON__source_distribution_r1c2"/>
              <p:cNvSpPr/>
              <p:nvPr/>
            </p:nvSpPr>
            <p:spPr>
              <a:xfrm>
                <a:off x="7591425" y="6648450"/>
                <a:ext cx="209550" cy="209550"/>
              </a:xfrm>
              <a:prstGeom prst="rect">
                <a:avLst/>
              </a:prstGeom>
              <a:solidFill>
                <a:srgbClr val="EEEF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45" name="04_COMPARISON__source_distribution_r1c3"/>
              <p:cNvSpPr/>
              <p:nvPr/>
            </p:nvSpPr>
            <p:spPr>
              <a:xfrm>
                <a:off x="7800975" y="6648450"/>
                <a:ext cx="209550" cy="209550"/>
              </a:xfrm>
              <a:prstGeom prst="rect">
                <a:avLst/>
              </a:prstGeom>
              <a:solidFill>
                <a:srgbClr val="EFF1F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46" name="04_COMPARISON__source_distribution_r1c4"/>
              <p:cNvSpPr/>
              <p:nvPr/>
            </p:nvSpPr>
            <p:spPr>
              <a:xfrm>
                <a:off x="8010525" y="664845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47" name="04_COMPARISON__source_distribution_r1c5"/>
              <p:cNvSpPr/>
              <p:nvPr/>
            </p:nvSpPr>
            <p:spPr>
              <a:xfrm>
                <a:off x="8220075" y="664845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48" name="04_COMPARISON__source_distribution_r1c6"/>
              <p:cNvSpPr/>
              <p:nvPr/>
            </p:nvSpPr>
            <p:spPr>
              <a:xfrm>
                <a:off x="8429625" y="664845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49" name="04_COMPARISON__source_distribution_r1c7"/>
              <p:cNvSpPr/>
              <p:nvPr/>
            </p:nvSpPr>
            <p:spPr>
              <a:xfrm>
                <a:off x="8639175" y="664845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50" name="04_COMPARISON__source_distribution_r1c8"/>
              <p:cNvSpPr/>
              <p:nvPr/>
            </p:nvSpPr>
            <p:spPr>
              <a:xfrm>
                <a:off x="8848725" y="664845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51" name="04_COMPARISON__source_distribution_r1c9"/>
              <p:cNvSpPr/>
              <p:nvPr/>
            </p:nvSpPr>
            <p:spPr>
              <a:xfrm>
                <a:off x="9058275" y="664845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52" name="04_COMPARISON__source_distribution_r2c0"/>
              <p:cNvSpPr/>
              <p:nvPr/>
            </p:nvSpPr>
            <p:spPr>
              <a:xfrm>
                <a:off x="7172325" y="6858000"/>
                <a:ext cx="209550" cy="209550"/>
              </a:xfrm>
              <a:prstGeom prst="rect">
                <a:avLst/>
              </a:prstGeom>
              <a:solidFill>
                <a:srgbClr val="EAEB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53" name="04_COMPARISON__source_distribution_r2c1"/>
              <p:cNvSpPr/>
              <p:nvPr/>
            </p:nvSpPr>
            <p:spPr>
              <a:xfrm>
                <a:off x="7381875" y="6858000"/>
                <a:ext cx="209550" cy="209550"/>
              </a:xfrm>
              <a:prstGeom prst="rect">
                <a:avLst/>
              </a:prstGeom>
              <a:solidFill>
                <a:srgbClr val="D9D9E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54" name="04_COMPARISON__source_distribution_r2c2"/>
              <p:cNvSpPr/>
              <p:nvPr/>
            </p:nvSpPr>
            <p:spPr>
              <a:xfrm>
                <a:off x="7591425" y="6858000"/>
                <a:ext cx="209550" cy="209550"/>
              </a:xfrm>
              <a:prstGeom prst="rect">
                <a:avLst/>
              </a:prstGeom>
              <a:solidFill>
                <a:srgbClr val="CECDD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55" name="04_COMPARISON__source_distribution_r2c3"/>
              <p:cNvSpPr/>
              <p:nvPr/>
            </p:nvSpPr>
            <p:spPr>
              <a:xfrm>
                <a:off x="7800975" y="6858000"/>
                <a:ext cx="209550" cy="209550"/>
              </a:xfrm>
              <a:prstGeom prst="rect">
                <a:avLst/>
              </a:prstGeom>
              <a:solidFill>
                <a:srgbClr val="D9D9E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56" name="04_COMPARISON__source_distribution_r2c4"/>
              <p:cNvSpPr/>
              <p:nvPr/>
            </p:nvSpPr>
            <p:spPr>
              <a:xfrm>
                <a:off x="8010525" y="685800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57" name="04_COMPARISON__source_distribution_r2c5"/>
              <p:cNvSpPr/>
              <p:nvPr/>
            </p:nvSpPr>
            <p:spPr>
              <a:xfrm>
                <a:off x="8220075" y="6858000"/>
                <a:ext cx="209550" cy="209550"/>
              </a:xfrm>
              <a:prstGeom prst="rect">
                <a:avLst/>
              </a:prstGeom>
              <a:solidFill>
                <a:srgbClr val="F1F3F5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58" name="04_COMPARISON__source_distribution_r2c6"/>
              <p:cNvSpPr/>
              <p:nvPr/>
            </p:nvSpPr>
            <p:spPr>
              <a:xfrm>
                <a:off x="8429625" y="68580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59" name="04_COMPARISON__source_distribution_r2c7"/>
              <p:cNvSpPr/>
              <p:nvPr/>
            </p:nvSpPr>
            <p:spPr>
              <a:xfrm>
                <a:off x="8639175" y="68580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60" name="04_COMPARISON__source_distribution_r2c8"/>
              <p:cNvSpPr/>
              <p:nvPr/>
            </p:nvSpPr>
            <p:spPr>
              <a:xfrm>
                <a:off x="8848725" y="68580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61" name="04_COMPARISON__source_distribution_r2c9"/>
              <p:cNvSpPr/>
              <p:nvPr/>
            </p:nvSpPr>
            <p:spPr>
              <a:xfrm>
                <a:off x="9058275" y="68580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62" name="04_COMPARISON__source_distribution_r3c0"/>
              <p:cNvSpPr/>
              <p:nvPr/>
            </p:nvSpPr>
            <p:spPr>
              <a:xfrm>
                <a:off x="7172325" y="7067550"/>
                <a:ext cx="209550" cy="209550"/>
              </a:xfrm>
              <a:prstGeom prst="rect">
                <a:avLst/>
              </a:prstGeom>
              <a:solidFill>
                <a:srgbClr val="DADAE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63" name="04_COMPARISON__source_distribution_r3c1"/>
              <p:cNvSpPr/>
              <p:nvPr/>
            </p:nvSpPr>
            <p:spPr>
              <a:xfrm>
                <a:off x="7381875" y="7067550"/>
                <a:ext cx="209550" cy="209550"/>
              </a:xfrm>
              <a:prstGeom prst="rect">
                <a:avLst/>
              </a:prstGeom>
              <a:solidFill>
                <a:srgbClr val="A7A4B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64" name="04_COMPARISON__source_distribution_r3c2"/>
              <p:cNvSpPr/>
              <p:nvPr/>
            </p:nvSpPr>
            <p:spPr>
              <a:xfrm>
                <a:off x="7591425" y="7067550"/>
                <a:ext cx="209550" cy="209550"/>
              </a:xfrm>
              <a:prstGeom prst="rect">
                <a:avLst/>
              </a:prstGeom>
              <a:solidFill>
                <a:srgbClr val="867FA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65" name="04_COMPARISON__source_distribution_r3c3"/>
              <p:cNvSpPr/>
              <p:nvPr/>
            </p:nvSpPr>
            <p:spPr>
              <a:xfrm>
                <a:off x="7800975" y="7067550"/>
                <a:ext cx="209550" cy="209550"/>
              </a:xfrm>
              <a:prstGeom prst="rect">
                <a:avLst/>
              </a:prstGeom>
              <a:solidFill>
                <a:srgbClr val="A7A4B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66" name="04_COMPARISON__source_distribution_r3c4"/>
              <p:cNvSpPr/>
              <p:nvPr/>
            </p:nvSpPr>
            <p:spPr>
              <a:xfrm>
                <a:off x="8010525" y="7067550"/>
                <a:ext cx="209550" cy="209550"/>
              </a:xfrm>
              <a:prstGeom prst="rect">
                <a:avLst/>
              </a:prstGeom>
              <a:solidFill>
                <a:srgbClr val="DADAE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67" name="04_COMPARISON__source_distribution_r3c5"/>
              <p:cNvSpPr/>
              <p:nvPr/>
            </p:nvSpPr>
            <p:spPr>
              <a:xfrm>
                <a:off x="8220075" y="7067550"/>
                <a:ext cx="209550" cy="209550"/>
              </a:xfrm>
              <a:prstGeom prst="rect">
                <a:avLst/>
              </a:prstGeom>
              <a:solidFill>
                <a:srgbClr val="EFF0F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68" name="04_COMPARISON__source_distribution_r3c6"/>
              <p:cNvSpPr/>
              <p:nvPr/>
            </p:nvSpPr>
            <p:spPr>
              <a:xfrm>
                <a:off x="8429625" y="7067550"/>
                <a:ext cx="209550" cy="209550"/>
              </a:xfrm>
              <a:prstGeom prst="rect">
                <a:avLst/>
              </a:prstGeom>
              <a:solidFill>
                <a:srgbClr val="F2F4F5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69" name="04_COMPARISON__source_distribution_r3c7"/>
              <p:cNvSpPr/>
              <p:nvPr/>
            </p:nvSpPr>
            <p:spPr>
              <a:xfrm>
                <a:off x="8639175" y="706755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70" name="04_COMPARISON__source_distribution_r3c8"/>
              <p:cNvSpPr/>
              <p:nvPr/>
            </p:nvSpPr>
            <p:spPr>
              <a:xfrm>
                <a:off x="8848725" y="706755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71" name="04_COMPARISON__source_distribution_r3c9"/>
              <p:cNvSpPr/>
              <p:nvPr/>
            </p:nvSpPr>
            <p:spPr>
              <a:xfrm>
                <a:off x="9058275" y="706755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72" name="04_COMPARISON__source_distribution_r4c0"/>
              <p:cNvSpPr/>
              <p:nvPr/>
            </p:nvSpPr>
            <p:spPr>
              <a:xfrm>
                <a:off x="7172325" y="7277100"/>
                <a:ext cx="209550" cy="209550"/>
              </a:xfrm>
              <a:prstGeom prst="rect">
                <a:avLst/>
              </a:prstGeom>
              <a:solidFill>
                <a:srgbClr val="D7D7E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73" name="04_COMPARISON__source_distribution_r4c1"/>
              <p:cNvSpPr/>
              <p:nvPr/>
            </p:nvSpPr>
            <p:spPr>
              <a:xfrm>
                <a:off x="7381875" y="7277100"/>
                <a:ext cx="209550" cy="209550"/>
              </a:xfrm>
              <a:prstGeom prst="rect">
                <a:avLst/>
              </a:prstGeom>
              <a:solidFill>
                <a:srgbClr val="9F9BB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74" name="04_COMPARISON__source_distribution_r4c2"/>
              <p:cNvSpPr/>
              <p:nvPr/>
            </p:nvSpPr>
            <p:spPr>
              <a:xfrm>
                <a:off x="7591425" y="7277100"/>
                <a:ext cx="209550" cy="209550"/>
              </a:xfrm>
              <a:prstGeom prst="rect">
                <a:avLst/>
              </a:prstGeom>
              <a:solidFill>
                <a:srgbClr val="7A739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75" name="04_COMPARISON__source_distribution_r4c3"/>
              <p:cNvSpPr/>
              <p:nvPr/>
            </p:nvSpPr>
            <p:spPr>
              <a:xfrm>
                <a:off x="7800975" y="7277100"/>
                <a:ext cx="209550" cy="209550"/>
              </a:xfrm>
              <a:prstGeom prst="rect">
                <a:avLst/>
              </a:prstGeom>
              <a:solidFill>
                <a:srgbClr val="9F9BB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76" name="04_COMPARISON__source_distribution_r4c4"/>
              <p:cNvSpPr/>
              <p:nvPr/>
            </p:nvSpPr>
            <p:spPr>
              <a:xfrm>
                <a:off x="8010525" y="7277100"/>
                <a:ext cx="209550" cy="209550"/>
              </a:xfrm>
              <a:prstGeom prst="rect">
                <a:avLst/>
              </a:prstGeom>
              <a:solidFill>
                <a:srgbClr val="D7D7E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77" name="04_COMPARISON__source_distribution_r4c5"/>
              <p:cNvSpPr/>
              <p:nvPr/>
            </p:nvSpPr>
            <p:spPr>
              <a:xfrm>
                <a:off x="8220075" y="7277100"/>
                <a:ext cx="209550" cy="209550"/>
              </a:xfrm>
              <a:prstGeom prst="rect">
                <a:avLst/>
              </a:prstGeom>
              <a:solidFill>
                <a:srgbClr val="EEEF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78" name="04_COMPARISON__source_distribution_r4c6"/>
              <p:cNvSpPr/>
              <p:nvPr/>
            </p:nvSpPr>
            <p:spPr>
              <a:xfrm>
                <a:off x="8429625" y="7277100"/>
                <a:ext cx="209550" cy="209550"/>
              </a:xfrm>
              <a:prstGeom prst="rect">
                <a:avLst/>
              </a:prstGeom>
              <a:solidFill>
                <a:srgbClr val="F2F4F5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79" name="04_COMPARISON__source_distribution_r4c7"/>
              <p:cNvSpPr/>
              <p:nvPr/>
            </p:nvSpPr>
            <p:spPr>
              <a:xfrm>
                <a:off x="8639175" y="72771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80" name="04_COMPARISON__source_distribution_r4c8"/>
              <p:cNvSpPr/>
              <p:nvPr/>
            </p:nvSpPr>
            <p:spPr>
              <a:xfrm>
                <a:off x="8848725" y="72771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81" name="04_COMPARISON__source_distribution_r4c9"/>
              <p:cNvSpPr/>
              <p:nvPr/>
            </p:nvSpPr>
            <p:spPr>
              <a:xfrm>
                <a:off x="9058275" y="72771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82" name="04_COMPARISON__source_distribution_r5c0"/>
              <p:cNvSpPr/>
              <p:nvPr/>
            </p:nvSpPr>
            <p:spPr>
              <a:xfrm>
                <a:off x="7172325" y="7486650"/>
                <a:ext cx="209550" cy="209550"/>
              </a:xfrm>
              <a:prstGeom prst="rect">
                <a:avLst/>
              </a:prstGeom>
              <a:solidFill>
                <a:srgbClr val="E7E8ED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83" name="04_COMPARISON__source_distribution_r5c1"/>
              <p:cNvSpPr/>
              <p:nvPr/>
            </p:nvSpPr>
            <p:spPr>
              <a:xfrm>
                <a:off x="7381875" y="7486650"/>
                <a:ext cx="209550" cy="209550"/>
              </a:xfrm>
              <a:prstGeom prst="rect">
                <a:avLst/>
              </a:prstGeom>
              <a:solidFill>
                <a:srgbClr val="D1D0D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84" name="04_COMPARISON__source_distribution_r5c2"/>
              <p:cNvSpPr/>
              <p:nvPr/>
            </p:nvSpPr>
            <p:spPr>
              <a:xfrm>
                <a:off x="7591425" y="7486650"/>
                <a:ext cx="209550" cy="209550"/>
              </a:xfrm>
              <a:prstGeom prst="rect">
                <a:avLst/>
              </a:prstGeom>
              <a:solidFill>
                <a:srgbClr val="C2C0D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85" name="04_COMPARISON__source_distribution_r5c3"/>
              <p:cNvSpPr/>
              <p:nvPr/>
            </p:nvSpPr>
            <p:spPr>
              <a:xfrm>
                <a:off x="7800975" y="7486650"/>
                <a:ext cx="209550" cy="209550"/>
              </a:xfrm>
              <a:prstGeom prst="rect">
                <a:avLst/>
              </a:prstGeom>
              <a:solidFill>
                <a:srgbClr val="D1D0D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86" name="04_COMPARISON__source_distribution_r5c4"/>
              <p:cNvSpPr/>
              <p:nvPr/>
            </p:nvSpPr>
            <p:spPr>
              <a:xfrm>
                <a:off x="8010525" y="748665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87" name="04_COMPARISON__source_distribution_r5c5"/>
              <p:cNvSpPr/>
              <p:nvPr/>
            </p:nvSpPr>
            <p:spPr>
              <a:xfrm>
                <a:off x="8220075" y="7486650"/>
                <a:ext cx="209550" cy="209550"/>
              </a:xfrm>
              <a:prstGeom prst="rect">
                <a:avLst/>
              </a:prstGeom>
              <a:solidFill>
                <a:srgbClr val="F1F2F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88" name="04_COMPARISON__source_distribution_r5c6"/>
              <p:cNvSpPr/>
              <p:nvPr/>
            </p:nvSpPr>
            <p:spPr>
              <a:xfrm>
                <a:off x="8429625" y="748665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89" name="04_COMPARISON__source_distribution_r5c7"/>
              <p:cNvSpPr/>
              <p:nvPr/>
            </p:nvSpPr>
            <p:spPr>
              <a:xfrm>
                <a:off x="8639175" y="748665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90" name="04_COMPARISON__source_distribution_r5c8"/>
              <p:cNvSpPr/>
              <p:nvPr/>
            </p:nvSpPr>
            <p:spPr>
              <a:xfrm>
                <a:off x="8848725" y="748665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91" name="04_COMPARISON__source_distribution_r5c9"/>
              <p:cNvSpPr/>
              <p:nvPr/>
            </p:nvSpPr>
            <p:spPr>
              <a:xfrm>
                <a:off x="9058275" y="748665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92" name="04_COMPARISON__source_distribution_r6c0"/>
              <p:cNvSpPr/>
              <p:nvPr/>
            </p:nvSpPr>
            <p:spPr>
              <a:xfrm>
                <a:off x="7172325" y="7696200"/>
                <a:ext cx="209550" cy="209550"/>
              </a:xfrm>
              <a:prstGeom prst="rect">
                <a:avLst/>
              </a:prstGeom>
              <a:solidFill>
                <a:srgbClr val="F1F2F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93" name="04_COMPARISON__source_distribution_r6c1"/>
              <p:cNvSpPr/>
              <p:nvPr/>
            </p:nvSpPr>
            <p:spPr>
              <a:xfrm>
                <a:off x="7381875" y="7696200"/>
                <a:ext cx="209550" cy="209550"/>
              </a:xfrm>
              <a:prstGeom prst="rect">
                <a:avLst/>
              </a:prstGeom>
              <a:solidFill>
                <a:srgbClr val="EDEF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94" name="04_COMPARISON__source_distribution_r6c2"/>
              <p:cNvSpPr/>
              <p:nvPr/>
            </p:nvSpPr>
            <p:spPr>
              <a:xfrm>
                <a:off x="7591425" y="7696200"/>
                <a:ext cx="209550" cy="209550"/>
              </a:xfrm>
              <a:prstGeom prst="rect">
                <a:avLst/>
              </a:prstGeom>
              <a:solidFill>
                <a:srgbClr val="EBECF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95" name="04_COMPARISON__source_distribution_r6c3"/>
              <p:cNvSpPr/>
              <p:nvPr/>
            </p:nvSpPr>
            <p:spPr>
              <a:xfrm>
                <a:off x="7800975" y="7696200"/>
                <a:ext cx="209550" cy="209550"/>
              </a:xfrm>
              <a:prstGeom prst="rect">
                <a:avLst/>
              </a:prstGeom>
              <a:solidFill>
                <a:srgbClr val="EDEF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96" name="04_COMPARISON__source_distribution_r6c4"/>
              <p:cNvSpPr/>
              <p:nvPr/>
            </p:nvSpPr>
            <p:spPr>
              <a:xfrm>
                <a:off x="8010525" y="769620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97" name="04_COMPARISON__source_distribution_r6c5"/>
              <p:cNvSpPr/>
              <p:nvPr/>
            </p:nvSpPr>
            <p:spPr>
              <a:xfrm>
                <a:off x="8220075" y="7696200"/>
                <a:ext cx="209550" cy="209550"/>
              </a:xfrm>
              <a:prstGeom prst="rect">
                <a:avLst/>
              </a:prstGeom>
              <a:solidFill>
                <a:srgbClr val="F2F4F5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98" name="04_COMPARISON__source_distribution_r6c6"/>
              <p:cNvSpPr/>
              <p:nvPr/>
            </p:nvSpPr>
            <p:spPr>
              <a:xfrm>
                <a:off x="8429625" y="76962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99" name="04_COMPARISON__source_distribution_r6c7"/>
              <p:cNvSpPr/>
              <p:nvPr/>
            </p:nvSpPr>
            <p:spPr>
              <a:xfrm>
                <a:off x="8639175" y="76962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00" name="04_COMPARISON__source_distribution_r6c8"/>
              <p:cNvSpPr/>
              <p:nvPr/>
            </p:nvSpPr>
            <p:spPr>
              <a:xfrm>
                <a:off x="8848725" y="76962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01" name="04_COMPARISON__source_distribution_r6c9"/>
              <p:cNvSpPr/>
              <p:nvPr/>
            </p:nvSpPr>
            <p:spPr>
              <a:xfrm>
                <a:off x="9058275" y="7696200"/>
                <a:ext cx="209550" cy="209550"/>
              </a:xfrm>
              <a:prstGeom prst="rect">
                <a:avLst/>
              </a:prstGeom>
              <a:solidFill>
                <a:srgbClr val="F2F4F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02" name="04_COMPARISON__source_distribution_frame"/>
              <p:cNvSpPr/>
              <p:nvPr/>
            </p:nvSpPr>
            <p:spPr>
              <a:xfrm>
                <a:off x="7172325" y="6438900"/>
                <a:ext cx="2095500" cy="1466850"/>
              </a:xfrm>
              <a:prstGeom prst="rect">
                <a:avLst/>
              </a:prstGeom>
              <a:noFill/>
              <a:ln w="10478">
                <a:solidFill>
                  <a:srgbClr val="B6C4CC"/>
                </a:solidFill>
              </a:ln>
            </p:spPr>
          </p:sp>
        </p:grpSp>
        <p:sp>
          <p:nvSpPr>
            <p:cNvPr id="603" name="04_COMPARISON__source_probability"/>
            <p:cNvSpPr/>
            <p:nvPr/>
          </p:nvSpPr>
          <p:spPr>
            <a:xfrm>
              <a:off x="7029450" y="7953375"/>
              <a:ext cx="2362200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875" b="1">
                  <a:solidFill>
                    <a:srgbClr val="6C648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75" b="1">
                  <a:solidFill>
                    <a:srgbClr val="6C648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Source probability</a:t>
              </a:r>
              <a:endParaRPr sz="1875" b="1">
                <a:solidFill>
                  <a:srgbClr val="6C648E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604" name="04_COMPARISON__distribution_symbol"/>
            <p:cNvSpPr/>
            <p:nvPr/>
          </p:nvSpPr>
          <p:spPr>
            <a:xfrm>
              <a:off x="7029450" y="8229600"/>
              <a:ext cx="2362200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950" b="0">
                  <a:solidFill>
                    <a:srgbClr val="6C648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950" b="0">
                  <a:solidFill>
                    <a:srgbClr val="6C648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p(S | H)</a:t>
              </a:r>
              <a:endParaRPr sz="1950" b="0">
                <a:solidFill>
                  <a:srgbClr val="6C648E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691" name="08_ROUTES__measured_to_comparison_port1"/>
            <p:cNvSpPr/>
            <p:nvPr/>
          </p:nvSpPr>
          <p:spPr>
            <a:xfrm>
              <a:off x="3056573" y="579977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96" name="08_ROUTES__predictions_to_comparison_port3"/>
            <p:cNvSpPr/>
            <p:nvPr/>
          </p:nvSpPr>
          <p:spPr>
            <a:xfrm>
              <a:off x="6199823" y="579977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03" name="08_ROUTES__posterior_to_planning_port0"/>
            <p:cNvSpPr/>
            <p:nvPr/>
          </p:nvSpPr>
          <p:spPr>
            <a:xfrm>
              <a:off x="9619298" y="7199948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712" name="05_SAMPLING_ASSEMBLY"/>
          <p:cNvGrpSpPr/>
          <p:nvPr/>
        </p:nvGrpSpPr>
        <p:grpSpPr>
          <a:xfrm>
            <a:off x="9990773" y="5799773"/>
            <a:ext cx="4868227" cy="2764155"/>
            <a:chOff x="9990773" y="5799773"/>
            <a:chExt cx="4868227" cy="2764155"/>
          </a:xfrm>
        </p:grpSpPr>
        <p:sp>
          <p:nvSpPr>
            <p:cNvPr id="605" name="01_REGIONS__sampling_panel"/>
            <p:cNvSpPr/>
            <p:nvPr/>
          </p:nvSpPr>
          <p:spPr>
            <a:xfrm>
              <a:off x="10001250" y="5810250"/>
              <a:ext cx="4857750" cy="2743200"/>
            </a:xfrm>
            <a:prstGeom prst="roundRect">
              <a:avLst>
                <a:gd name="adj" fmla="val 6250"/>
              </a:avLst>
            </a:prstGeom>
            <a:solidFill>
              <a:srgbClr val="FBF5EC"/>
            </a:solidFill>
            <a:ln w="0">
              <a:noFill/>
            </a:ln>
          </p:spPr>
        </p:sp>
        <p:sp>
          <p:nvSpPr>
            <p:cNvPr id="606" name="05_SAMPLING__sampling_letter"/>
            <p:cNvSpPr/>
            <p:nvPr/>
          </p:nvSpPr>
          <p:spPr>
            <a:xfrm>
              <a:off x="10210800" y="5991225"/>
              <a:ext cx="295275" cy="3524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75" b="1">
                  <a:solidFill>
                    <a:srgbClr val="A86D2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2175" b="1">
                  <a:solidFill>
                    <a:srgbClr val="A86D2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</a:t>
              </a:r>
              <a:endParaRPr sz="2175" b="1">
                <a:solidFill>
                  <a:srgbClr val="A86D27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607" name="05_SAMPLING__sampling_heading"/>
            <p:cNvSpPr/>
            <p:nvPr/>
          </p:nvSpPr>
          <p:spPr>
            <a:xfrm>
              <a:off x="10591800" y="5991225"/>
              <a:ext cx="4048125" cy="3524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75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2175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Next sampling location</a:t>
              </a:r>
              <a:endParaRPr sz="2175" b="1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711" name="05_SAMPLING__component_interest"/>
            <p:cNvGrpSpPr/>
            <p:nvPr/>
          </p:nvGrpSpPr>
          <p:grpSpPr>
            <a:xfrm>
              <a:off x="10239375" y="6438900"/>
              <a:ext cx="2095500" cy="1466850"/>
              <a:chOff x="10239375" y="6438900"/>
              <a:chExt cx="2095500" cy="1466850"/>
            </a:xfrm>
          </p:grpSpPr>
          <p:sp>
            <p:nvSpPr>
              <p:cNvPr id="608" name="05_SAMPLING__interest_r0c0"/>
              <p:cNvSpPr/>
              <p:nvPr/>
            </p:nvSpPr>
            <p:spPr>
              <a:xfrm>
                <a:off x="10239375" y="643890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09" name="05_SAMPLING__interest_r0c1"/>
              <p:cNvSpPr/>
              <p:nvPr/>
            </p:nvSpPr>
            <p:spPr>
              <a:xfrm>
                <a:off x="10448925" y="643890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10" name="05_SAMPLING__interest_r0c2"/>
              <p:cNvSpPr/>
              <p:nvPr/>
            </p:nvSpPr>
            <p:spPr>
              <a:xfrm>
                <a:off x="10658475" y="643890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11" name="05_SAMPLING__interest_r0c3"/>
              <p:cNvSpPr/>
              <p:nvPr/>
            </p:nvSpPr>
            <p:spPr>
              <a:xfrm>
                <a:off x="10868025" y="6438900"/>
                <a:ext cx="209550" cy="209550"/>
              </a:xfrm>
              <a:prstGeom prst="rect">
                <a:avLst/>
              </a:prstGeom>
              <a:solidFill>
                <a:srgbClr val="F5F4F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12" name="05_SAMPLING__interest_r0c4"/>
              <p:cNvSpPr/>
              <p:nvPr/>
            </p:nvSpPr>
            <p:spPr>
              <a:xfrm>
                <a:off x="11077575" y="643890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13" name="05_SAMPLING__interest_r0c5"/>
              <p:cNvSpPr/>
              <p:nvPr/>
            </p:nvSpPr>
            <p:spPr>
              <a:xfrm>
                <a:off x="11287125" y="6438900"/>
                <a:ext cx="209550" cy="209550"/>
              </a:xfrm>
              <a:prstGeom prst="rect">
                <a:avLst/>
              </a:prstGeom>
              <a:solidFill>
                <a:srgbClr val="F4F3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14" name="05_SAMPLING__interest_r0c6"/>
              <p:cNvSpPr/>
              <p:nvPr/>
            </p:nvSpPr>
            <p:spPr>
              <a:xfrm>
                <a:off x="11496675" y="6438900"/>
                <a:ext cx="209550" cy="209550"/>
              </a:xfrm>
              <a:prstGeom prst="rect">
                <a:avLst/>
              </a:prstGeom>
              <a:solidFill>
                <a:srgbClr val="F2F0EB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15" name="05_SAMPLING__interest_r0c7"/>
              <p:cNvSpPr/>
              <p:nvPr/>
            </p:nvSpPr>
            <p:spPr>
              <a:xfrm>
                <a:off x="11706225" y="6438900"/>
                <a:ext cx="209550" cy="209550"/>
              </a:xfrm>
              <a:prstGeom prst="rect">
                <a:avLst/>
              </a:prstGeom>
              <a:solidFill>
                <a:srgbClr val="F2EFE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16" name="05_SAMPLING__interest_r0c8"/>
              <p:cNvSpPr/>
              <p:nvPr/>
            </p:nvSpPr>
            <p:spPr>
              <a:xfrm>
                <a:off x="11915775" y="6438900"/>
                <a:ext cx="209550" cy="209550"/>
              </a:xfrm>
              <a:prstGeom prst="rect">
                <a:avLst/>
              </a:prstGeom>
              <a:solidFill>
                <a:srgbClr val="F2F0EB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17" name="05_SAMPLING__interest_r0c9"/>
              <p:cNvSpPr/>
              <p:nvPr/>
            </p:nvSpPr>
            <p:spPr>
              <a:xfrm>
                <a:off x="12125325" y="6438900"/>
                <a:ext cx="209550" cy="209550"/>
              </a:xfrm>
              <a:prstGeom prst="rect">
                <a:avLst/>
              </a:prstGeom>
              <a:solidFill>
                <a:srgbClr val="F4F2EE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18" name="05_SAMPLING__interest_r1c0"/>
              <p:cNvSpPr/>
              <p:nvPr/>
            </p:nvSpPr>
            <p:spPr>
              <a:xfrm>
                <a:off x="10239375" y="664845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19" name="05_SAMPLING__interest_r1c1"/>
              <p:cNvSpPr/>
              <p:nvPr/>
            </p:nvSpPr>
            <p:spPr>
              <a:xfrm>
                <a:off x="10448925" y="664845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20" name="05_SAMPLING__interest_r1c2"/>
              <p:cNvSpPr/>
              <p:nvPr/>
            </p:nvSpPr>
            <p:spPr>
              <a:xfrm>
                <a:off x="10658475" y="664845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21" name="05_SAMPLING__interest_r1c3"/>
              <p:cNvSpPr/>
              <p:nvPr/>
            </p:nvSpPr>
            <p:spPr>
              <a:xfrm>
                <a:off x="10868025" y="6648450"/>
                <a:ext cx="209550" cy="209550"/>
              </a:xfrm>
              <a:prstGeom prst="rect">
                <a:avLst/>
              </a:prstGeom>
              <a:solidFill>
                <a:srgbClr val="F5F4F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22" name="05_SAMPLING__interest_r1c4"/>
              <p:cNvSpPr/>
              <p:nvPr/>
            </p:nvSpPr>
            <p:spPr>
              <a:xfrm>
                <a:off x="11077575" y="664845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23" name="05_SAMPLING__interest_r1c5"/>
              <p:cNvSpPr/>
              <p:nvPr/>
            </p:nvSpPr>
            <p:spPr>
              <a:xfrm>
                <a:off x="11287125" y="6648450"/>
                <a:ext cx="209550" cy="209550"/>
              </a:xfrm>
              <a:prstGeom prst="rect">
                <a:avLst/>
              </a:prstGeom>
              <a:solidFill>
                <a:srgbClr val="EEE9E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24" name="05_SAMPLING__interest_r1c6"/>
              <p:cNvSpPr/>
              <p:nvPr/>
            </p:nvSpPr>
            <p:spPr>
              <a:xfrm>
                <a:off x="11496675" y="6648450"/>
                <a:ext cx="209550" cy="209550"/>
              </a:xfrm>
              <a:prstGeom prst="rect">
                <a:avLst/>
              </a:prstGeom>
              <a:solidFill>
                <a:srgbClr val="E5D9C8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25" name="05_SAMPLING__interest_r1c7"/>
              <p:cNvSpPr/>
              <p:nvPr/>
            </p:nvSpPr>
            <p:spPr>
              <a:xfrm>
                <a:off x="11706225" y="6648450"/>
                <a:ext cx="209550" cy="209550"/>
              </a:xfrm>
              <a:prstGeom prst="rect">
                <a:avLst/>
              </a:prstGeom>
              <a:solidFill>
                <a:srgbClr val="DFCEB8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26" name="05_SAMPLING__interest_r1c8"/>
              <p:cNvSpPr/>
              <p:nvPr/>
            </p:nvSpPr>
            <p:spPr>
              <a:xfrm>
                <a:off x="11915775" y="6648450"/>
                <a:ext cx="209550" cy="209550"/>
              </a:xfrm>
              <a:prstGeom prst="rect">
                <a:avLst/>
              </a:prstGeom>
              <a:solidFill>
                <a:srgbClr val="E3D5C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27" name="05_SAMPLING__interest_r1c9"/>
              <p:cNvSpPr/>
              <p:nvPr/>
            </p:nvSpPr>
            <p:spPr>
              <a:xfrm>
                <a:off x="12125325" y="6648450"/>
                <a:ext cx="209550" cy="209550"/>
              </a:xfrm>
              <a:prstGeom prst="rect">
                <a:avLst/>
              </a:prstGeom>
              <a:solidFill>
                <a:srgbClr val="EDE6D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28" name="05_SAMPLING__interest_r2c0"/>
              <p:cNvSpPr/>
              <p:nvPr/>
            </p:nvSpPr>
            <p:spPr>
              <a:xfrm>
                <a:off x="10239375" y="685800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29" name="05_SAMPLING__interest_r2c1"/>
              <p:cNvSpPr/>
              <p:nvPr/>
            </p:nvSpPr>
            <p:spPr>
              <a:xfrm>
                <a:off x="10448925" y="685800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30" name="05_SAMPLING__interest_r2c2"/>
              <p:cNvSpPr/>
              <p:nvPr/>
            </p:nvSpPr>
            <p:spPr>
              <a:xfrm>
                <a:off x="10658475" y="6858000"/>
                <a:ext cx="209550" cy="209550"/>
              </a:xfrm>
              <a:prstGeom prst="rect">
                <a:avLst/>
              </a:prstGeom>
              <a:solidFill>
                <a:srgbClr val="F5F4F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31" name="05_SAMPLING__interest_r2c3"/>
              <p:cNvSpPr/>
              <p:nvPr/>
            </p:nvSpPr>
            <p:spPr>
              <a:xfrm>
                <a:off x="10868025" y="6858000"/>
                <a:ext cx="209550" cy="209550"/>
              </a:xfrm>
              <a:prstGeom prst="rect">
                <a:avLst/>
              </a:prstGeom>
              <a:solidFill>
                <a:srgbClr val="F4F3F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32" name="05_SAMPLING__interest_r2c4"/>
              <p:cNvSpPr/>
              <p:nvPr/>
            </p:nvSpPr>
            <p:spPr>
              <a:xfrm>
                <a:off x="11077575" y="685800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33" name="05_SAMPLING__interest_r2c5"/>
              <p:cNvSpPr/>
              <p:nvPr/>
            </p:nvSpPr>
            <p:spPr>
              <a:xfrm>
                <a:off x="11287125" y="6858000"/>
                <a:ext cx="209550" cy="209550"/>
              </a:xfrm>
              <a:prstGeom prst="rect">
                <a:avLst/>
              </a:prstGeom>
              <a:solidFill>
                <a:srgbClr val="E4D6C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34" name="05_SAMPLING__interest_r2c6"/>
              <p:cNvSpPr/>
              <p:nvPr/>
            </p:nvSpPr>
            <p:spPr>
              <a:xfrm>
                <a:off x="11496675" y="6858000"/>
                <a:ext cx="209550" cy="209550"/>
              </a:xfrm>
              <a:prstGeom prst="rect">
                <a:avLst/>
              </a:prstGeom>
              <a:solidFill>
                <a:srgbClr val="CCAC8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35" name="05_SAMPLING__interest_r2c7"/>
              <p:cNvSpPr/>
              <p:nvPr/>
            </p:nvSpPr>
            <p:spPr>
              <a:xfrm>
                <a:off x="11706225" y="6858000"/>
                <a:ext cx="209550" cy="209550"/>
              </a:xfrm>
              <a:prstGeom prst="rect">
                <a:avLst/>
              </a:prstGeom>
              <a:solidFill>
                <a:srgbClr val="BC905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36" name="05_SAMPLING__interest_r2c8"/>
              <p:cNvSpPr/>
              <p:nvPr/>
            </p:nvSpPr>
            <p:spPr>
              <a:xfrm>
                <a:off x="11915775" y="6858000"/>
                <a:ext cx="209550" cy="209550"/>
              </a:xfrm>
              <a:prstGeom prst="rect">
                <a:avLst/>
              </a:prstGeom>
              <a:solidFill>
                <a:srgbClr val="C7A47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37" name="05_SAMPLING__interest_r2c9"/>
              <p:cNvSpPr/>
              <p:nvPr/>
            </p:nvSpPr>
            <p:spPr>
              <a:xfrm>
                <a:off x="12125325" y="6858000"/>
                <a:ext cx="209550" cy="209550"/>
              </a:xfrm>
              <a:prstGeom prst="rect">
                <a:avLst/>
              </a:prstGeom>
              <a:solidFill>
                <a:srgbClr val="DFCFB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38" name="05_SAMPLING__interest_r3c0"/>
              <p:cNvSpPr/>
              <p:nvPr/>
            </p:nvSpPr>
            <p:spPr>
              <a:xfrm>
                <a:off x="10239375" y="706755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39" name="05_SAMPLING__interest_r3c1"/>
              <p:cNvSpPr/>
              <p:nvPr/>
            </p:nvSpPr>
            <p:spPr>
              <a:xfrm>
                <a:off x="10448925" y="706755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40" name="05_SAMPLING__interest_r3c2"/>
              <p:cNvSpPr/>
              <p:nvPr/>
            </p:nvSpPr>
            <p:spPr>
              <a:xfrm>
                <a:off x="10658475" y="7067550"/>
                <a:ext cx="209550" cy="209550"/>
              </a:xfrm>
              <a:prstGeom prst="rect">
                <a:avLst/>
              </a:prstGeom>
              <a:solidFill>
                <a:srgbClr val="F5F4F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41" name="05_SAMPLING__interest_r3c3"/>
              <p:cNvSpPr/>
              <p:nvPr/>
            </p:nvSpPr>
            <p:spPr>
              <a:xfrm>
                <a:off x="10868025" y="7067550"/>
                <a:ext cx="209550" cy="209550"/>
              </a:xfrm>
              <a:prstGeom prst="rect">
                <a:avLst/>
              </a:prstGeom>
              <a:solidFill>
                <a:srgbClr val="F4F3F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42" name="05_SAMPLING__interest_r3c4"/>
              <p:cNvSpPr/>
              <p:nvPr/>
            </p:nvSpPr>
            <p:spPr>
              <a:xfrm>
                <a:off x="11077575" y="7067550"/>
                <a:ext cx="209550" cy="209550"/>
              </a:xfrm>
              <a:prstGeom prst="rect">
                <a:avLst/>
              </a:prstGeom>
              <a:solidFill>
                <a:srgbClr val="F1EDE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43" name="05_SAMPLING__interest_r3c5"/>
              <p:cNvSpPr/>
              <p:nvPr/>
            </p:nvSpPr>
            <p:spPr>
              <a:xfrm>
                <a:off x="11287125" y="7067550"/>
                <a:ext cx="209550" cy="209550"/>
              </a:xfrm>
              <a:prstGeom prst="rect">
                <a:avLst/>
              </a:prstGeom>
              <a:solidFill>
                <a:srgbClr val="E4D6C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44" name="05_SAMPLING__interest_r3c6"/>
              <p:cNvSpPr/>
              <p:nvPr/>
            </p:nvSpPr>
            <p:spPr>
              <a:xfrm>
                <a:off x="11496675" y="7067550"/>
                <a:ext cx="209550" cy="209550"/>
              </a:xfrm>
              <a:prstGeom prst="rect">
                <a:avLst/>
              </a:prstGeom>
              <a:solidFill>
                <a:srgbClr val="CCAC8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45" name="05_SAMPLING__interest_r3c7"/>
              <p:cNvSpPr/>
              <p:nvPr/>
            </p:nvSpPr>
            <p:spPr>
              <a:xfrm>
                <a:off x="11706225" y="7067550"/>
                <a:ext cx="209550" cy="209550"/>
              </a:xfrm>
              <a:prstGeom prst="rect">
                <a:avLst/>
              </a:prstGeom>
              <a:solidFill>
                <a:srgbClr val="BC905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46" name="05_SAMPLING__interest_r3c8"/>
              <p:cNvSpPr/>
              <p:nvPr/>
            </p:nvSpPr>
            <p:spPr>
              <a:xfrm>
                <a:off x="11915775" y="7067550"/>
                <a:ext cx="209550" cy="209550"/>
              </a:xfrm>
              <a:prstGeom prst="rect">
                <a:avLst/>
              </a:prstGeom>
              <a:solidFill>
                <a:srgbClr val="C7A47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47" name="05_SAMPLING__interest_r3c9"/>
              <p:cNvSpPr/>
              <p:nvPr/>
            </p:nvSpPr>
            <p:spPr>
              <a:xfrm>
                <a:off x="12125325" y="7067550"/>
                <a:ext cx="209550" cy="209550"/>
              </a:xfrm>
              <a:prstGeom prst="rect">
                <a:avLst/>
              </a:prstGeom>
              <a:solidFill>
                <a:srgbClr val="DFCFB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48" name="05_SAMPLING__interest_r4c0"/>
              <p:cNvSpPr/>
              <p:nvPr/>
            </p:nvSpPr>
            <p:spPr>
              <a:xfrm>
                <a:off x="10239375" y="727710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49" name="05_SAMPLING__interest_r4c1"/>
              <p:cNvSpPr/>
              <p:nvPr/>
            </p:nvSpPr>
            <p:spPr>
              <a:xfrm>
                <a:off x="10448925" y="727710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50" name="05_SAMPLING__interest_r4c2"/>
              <p:cNvSpPr/>
              <p:nvPr/>
            </p:nvSpPr>
            <p:spPr>
              <a:xfrm>
                <a:off x="10658475" y="727710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51" name="05_SAMPLING__interest_r4c3"/>
              <p:cNvSpPr/>
              <p:nvPr/>
            </p:nvSpPr>
            <p:spPr>
              <a:xfrm>
                <a:off x="10868025" y="7277100"/>
                <a:ext cx="209550" cy="209550"/>
              </a:xfrm>
              <a:prstGeom prst="rect">
                <a:avLst/>
              </a:prstGeom>
              <a:solidFill>
                <a:srgbClr val="F5F4F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52" name="05_SAMPLING__interest_r4c4"/>
              <p:cNvSpPr/>
              <p:nvPr/>
            </p:nvSpPr>
            <p:spPr>
              <a:xfrm>
                <a:off x="11077575" y="7277100"/>
                <a:ext cx="209550" cy="209550"/>
              </a:xfrm>
              <a:prstGeom prst="rect">
                <a:avLst/>
              </a:prstGeom>
              <a:solidFill>
                <a:srgbClr val="F3F1ED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53" name="05_SAMPLING__interest_r4c5"/>
              <p:cNvSpPr/>
              <p:nvPr/>
            </p:nvSpPr>
            <p:spPr>
              <a:xfrm>
                <a:off x="11287125" y="7277100"/>
                <a:ext cx="209550" cy="209550"/>
              </a:xfrm>
              <a:prstGeom prst="rect">
                <a:avLst/>
              </a:prstGeom>
              <a:solidFill>
                <a:srgbClr val="EEE9E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54" name="05_SAMPLING__interest_r4c6"/>
              <p:cNvSpPr/>
              <p:nvPr/>
            </p:nvSpPr>
            <p:spPr>
              <a:xfrm>
                <a:off x="11496675" y="7277100"/>
                <a:ext cx="209550" cy="209550"/>
              </a:xfrm>
              <a:prstGeom prst="rect">
                <a:avLst/>
              </a:prstGeom>
              <a:solidFill>
                <a:srgbClr val="E5D9C8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55" name="05_SAMPLING__interest_r4c7"/>
              <p:cNvSpPr/>
              <p:nvPr/>
            </p:nvSpPr>
            <p:spPr>
              <a:xfrm>
                <a:off x="11706225" y="7277100"/>
                <a:ext cx="209550" cy="209550"/>
              </a:xfrm>
              <a:prstGeom prst="rect">
                <a:avLst/>
              </a:prstGeom>
              <a:solidFill>
                <a:srgbClr val="DFCEB8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56" name="05_SAMPLING__interest_r4c8"/>
              <p:cNvSpPr/>
              <p:nvPr/>
            </p:nvSpPr>
            <p:spPr>
              <a:xfrm>
                <a:off x="11915775" y="7277100"/>
                <a:ext cx="209550" cy="209550"/>
              </a:xfrm>
              <a:prstGeom prst="rect">
                <a:avLst/>
              </a:prstGeom>
              <a:solidFill>
                <a:srgbClr val="E3D5C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57" name="05_SAMPLING__interest_r4c9"/>
              <p:cNvSpPr/>
              <p:nvPr/>
            </p:nvSpPr>
            <p:spPr>
              <a:xfrm>
                <a:off x="12125325" y="7277100"/>
                <a:ext cx="209550" cy="209550"/>
              </a:xfrm>
              <a:prstGeom prst="rect">
                <a:avLst/>
              </a:prstGeom>
              <a:solidFill>
                <a:srgbClr val="EDE6D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58" name="05_SAMPLING__interest_r5c0"/>
              <p:cNvSpPr/>
              <p:nvPr/>
            </p:nvSpPr>
            <p:spPr>
              <a:xfrm>
                <a:off x="10239375" y="748665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59" name="05_SAMPLING__interest_r5c1"/>
              <p:cNvSpPr/>
              <p:nvPr/>
            </p:nvSpPr>
            <p:spPr>
              <a:xfrm>
                <a:off x="10448925" y="748665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60" name="05_SAMPLING__interest_r5c2"/>
              <p:cNvSpPr/>
              <p:nvPr/>
            </p:nvSpPr>
            <p:spPr>
              <a:xfrm>
                <a:off x="10658475" y="748665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61" name="05_SAMPLING__interest_r5c3"/>
              <p:cNvSpPr/>
              <p:nvPr/>
            </p:nvSpPr>
            <p:spPr>
              <a:xfrm>
                <a:off x="10868025" y="7486650"/>
                <a:ext cx="209550" cy="209550"/>
              </a:xfrm>
              <a:prstGeom prst="rect">
                <a:avLst/>
              </a:prstGeom>
              <a:solidFill>
                <a:srgbClr val="F5F4F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62" name="05_SAMPLING__interest_r5c4"/>
              <p:cNvSpPr/>
              <p:nvPr/>
            </p:nvSpPr>
            <p:spPr>
              <a:xfrm>
                <a:off x="11077575" y="748665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63" name="05_SAMPLING__interest_r5c5"/>
              <p:cNvSpPr/>
              <p:nvPr/>
            </p:nvSpPr>
            <p:spPr>
              <a:xfrm>
                <a:off x="11287125" y="7486650"/>
                <a:ext cx="209550" cy="209550"/>
              </a:xfrm>
              <a:prstGeom prst="rect">
                <a:avLst/>
              </a:prstGeom>
              <a:solidFill>
                <a:srgbClr val="F4F3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64" name="05_SAMPLING__interest_r5c6"/>
              <p:cNvSpPr/>
              <p:nvPr/>
            </p:nvSpPr>
            <p:spPr>
              <a:xfrm>
                <a:off x="11496675" y="7486650"/>
                <a:ext cx="209550" cy="209550"/>
              </a:xfrm>
              <a:prstGeom prst="rect">
                <a:avLst/>
              </a:prstGeom>
              <a:solidFill>
                <a:srgbClr val="F2F0EB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65" name="05_SAMPLING__interest_r5c7"/>
              <p:cNvSpPr/>
              <p:nvPr/>
            </p:nvSpPr>
            <p:spPr>
              <a:xfrm>
                <a:off x="11706225" y="748665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66" name="05_SAMPLING__interest_r5c8"/>
              <p:cNvSpPr/>
              <p:nvPr/>
            </p:nvSpPr>
            <p:spPr>
              <a:xfrm>
                <a:off x="11915775" y="748665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67" name="05_SAMPLING__interest_r5c9"/>
              <p:cNvSpPr/>
              <p:nvPr/>
            </p:nvSpPr>
            <p:spPr>
              <a:xfrm>
                <a:off x="12125325" y="748665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68" name="05_SAMPLING__interest_r6c0"/>
              <p:cNvSpPr/>
              <p:nvPr/>
            </p:nvSpPr>
            <p:spPr>
              <a:xfrm>
                <a:off x="10239375" y="769620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69" name="05_SAMPLING__interest_r6c1"/>
              <p:cNvSpPr/>
              <p:nvPr/>
            </p:nvSpPr>
            <p:spPr>
              <a:xfrm>
                <a:off x="10448925" y="769620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70" name="05_SAMPLING__interest_r6c2"/>
              <p:cNvSpPr/>
              <p:nvPr/>
            </p:nvSpPr>
            <p:spPr>
              <a:xfrm>
                <a:off x="10658475" y="769620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71" name="05_SAMPLING__interest_r6c3"/>
              <p:cNvSpPr/>
              <p:nvPr/>
            </p:nvSpPr>
            <p:spPr>
              <a:xfrm>
                <a:off x="10868025" y="7696200"/>
                <a:ext cx="209550" cy="209550"/>
              </a:xfrm>
              <a:prstGeom prst="rect">
                <a:avLst/>
              </a:prstGeom>
              <a:solidFill>
                <a:srgbClr val="F5F4F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72" name="05_SAMPLING__interest_r6c4"/>
              <p:cNvSpPr/>
              <p:nvPr/>
            </p:nvSpPr>
            <p:spPr>
              <a:xfrm>
                <a:off x="11077575" y="7696200"/>
                <a:ext cx="209550" cy="2095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73" name="05_SAMPLING__interest_r6c5"/>
              <p:cNvSpPr/>
              <p:nvPr/>
            </p:nvSpPr>
            <p:spPr>
              <a:xfrm>
                <a:off x="11287125" y="7696200"/>
                <a:ext cx="209550" cy="209550"/>
              </a:xfrm>
              <a:prstGeom prst="rect">
                <a:avLst/>
              </a:prstGeom>
              <a:solidFill>
                <a:srgbClr val="F5F4F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74" name="05_SAMPLING__interest_r6c6"/>
              <p:cNvSpPr/>
              <p:nvPr/>
            </p:nvSpPr>
            <p:spPr>
              <a:xfrm>
                <a:off x="11496675" y="7696200"/>
                <a:ext cx="209550" cy="209550"/>
              </a:xfrm>
              <a:prstGeom prst="rect">
                <a:avLst/>
              </a:prstGeom>
              <a:solidFill>
                <a:srgbClr val="F5F4F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75" name="05_SAMPLING__interest_r6c7"/>
              <p:cNvSpPr/>
              <p:nvPr/>
            </p:nvSpPr>
            <p:spPr>
              <a:xfrm>
                <a:off x="11706225" y="7696200"/>
                <a:ext cx="209550" cy="209550"/>
              </a:xfrm>
              <a:prstGeom prst="rect">
                <a:avLst/>
              </a:prstGeom>
              <a:solidFill>
                <a:srgbClr val="F5F4F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76" name="05_SAMPLING__interest_r6c8"/>
              <p:cNvSpPr/>
              <p:nvPr/>
            </p:nvSpPr>
            <p:spPr>
              <a:xfrm>
                <a:off x="11915775" y="7696200"/>
                <a:ext cx="209550" cy="209550"/>
              </a:xfrm>
              <a:prstGeom prst="rect">
                <a:avLst/>
              </a:prstGeom>
              <a:solidFill>
                <a:srgbClr val="F5F4F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77" name="05_SAMPLING__interest_r6c9"/>
              <p:cNvSpPr/>
              <p:nvPr/>
            </p:nvSpPr>
            <p:spPr>
              <a:xfrm>
                <a:off x="12125325" y="7696200"/>
                <a:ext cx="209550" cy="209550"/>
              </a:xfrm>
              <a:prstGeom prst="rect">
                <a:avLst/>
              </a:prstGeom>
              <a:solidFill>
                <a:srgbClr val="F5F4F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78" name="05_SAMPLING__interest_frame"/>
              <p:cNvSpPr/>
              <p:nvPr/>
            </p:nvSpPr>
            <p:spPr>
              <a:xfrm>
                <a:off x="10239375" y="6438900"/>
                <a:ext cx="2095500" cy="1466850"/>
              </a:xfrm>
              <a:prstGeom prst="rect">
                <a:avLst/>
              </a:prstGeom>
              <a:noFill/>
              <a:ln w="10478">
                <a:solidFill>
                  <a:srgbClr val="B6C4CC"/>
                </a:solidFill>
              </a:ln>
            </p:spPr>
          </p:sp>
        </p:grpSp>
        <p:sp>
          <p:nvSpPr>
            <p:cNvPr id="679" name="05_SAMPLING__new_route_track"/>
            <p:cNvSpPr/>
            <p:nvPr/>
          </p:nvSpPr>
          <p:spPr>
            <a:xfrm>
              <a:off x="10553700" y="6962775"/>
              <a:ext cx="1257300" cy="419100"/>
            </a:xfrm>
            <a:custGeom>
              <a:avLst/>
              <a:gdLst/>
              <a:ahLst/>
              <a:cxnLst/>
              <a:rect l="0" t="0" r="0" b="0"/>
              <a:pathLst>
                <a:path w="1257300" h="419100">
                  <a:moveTo>
                    <a:pt x="0" y="419100"/>
                  </a:moveTo>
                  <a:lnTo>
                    <a:pt x="419100" y="419100"/>
                  </a:lnTo>
                  <a:lnTo>
                    <a:pt x="838200" y="419100"/>
                  </a:lnTo>
                  <a:lnTo>
                    <a:pt x="1047750" y="209550"/>
                  </a:lnTo>
                  <a:lnTo>
                    <a:pt x="1257300" y="0"/>
                  </a:lnTo>
                </a:path>
              </a:pathLst>
            </a:custGeom>
            <a:noFill/>
            <a:ln w="23813">
              <a:solidFill>
                <a:srgbClr val="233440"/>
              </a:solidFill>
              <a:prstDash val="solid"/>
            </a:ln>
          </p:spPr>
        </p:sp>
        <p:sp>
          <p:nvSpPr>
            <p:cNvPr id="680" name="05_SAMPLING__robot_now"/>
            <p:cNvSpPr/>
            <p:nvPr/>
          </p:nvSpPr>
          <p:spPr>
            <a:xfrm>
              <a:off x="10496550" y="7324725"/>
              <a:ext cx="114300" cy="1143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33440"/>
              </a:solidFill>
            </a:ln>
          </p:spPr>
        </p:sp>
        <p:sp>
          <p:nvSpPr>
            <p:cNvPr id="681" name="05_SAMPLING__next_sample"/>
            <p:cNvSpPr/>
            <p:nvPr/>
          </p:nvSpPr>
          <p:spPr>
            <a:xfrm>
              <a:off x="11734800" y="6886575"/>
              <a:ext cx="152400" cy="152400"/>
            </a:xfrm>
            <a:prstGeom prst="ellipse">
              <a:avLst/>
            </a:prstGeom>
            <a:solidFill>
              <a:srgbClr val="A86D27"/>
            </a:solidFill>
            <a:ln w="19050">
              <a:solidFill>
                <a:srgbClr val="FFFFFF"/>
              </a:solidFill>
            </a:ln>
          </p:spPr>
        </p:sp>
        <p:sp>
          <p:nvSpPr>
            <p:cNvPr id="682" name="05_SAMPLING__disagreement"/>
            <p:cNvSpPr/>
            <p:nvPr/>
          </p:nvSpPr>
          <p:spPr>
            <a:xfrm>
              <a:off x="12487275" y="6438900"/>
              <a:ext cx="2143125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950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950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Plume variation</a:t>
              </a:r>
              <a:endParaRPr sz="1950" b="1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683" name="05_SAMPLING__weighted"/>
            <p:cNvSpPr/>
            <p:nvPr/>
          </p:nvSpPr>
          <p:spPr>
            <a:xfrm>
              <a:off x="12487275" y="6819900"/>
              <a:ext cx="2143125" cy="3143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950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950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Source weights</a:t>
              </a:r>
              <a:endParaRPr sz="1950" b="0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684" name="05_SAMPLING__unobserved"/>
            <p:cNvSpPr/>
            <p:nvPr/>
          </p:nvSpPr>
          <p:spPr>
            <a:xfrm>
              <a:off x="12487275" y="7200900"/>
              <a:ext cx="2143125" cy="3143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950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950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Low confidence</a:t>
              </a:r>
              <a:endParaRPr sz="1950" b="0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685" name="05_SAMPLING__planning_equation"/>
            <p:cNvSpPr/>
            <p:nvPr/>
          </p:nvSpPr>
          <p:spPr>
            <a:xfrm>
              <a:off x="10229850" y="8001000"/>
              <a:ext cx="4333875" cy="3619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100" b="0">
                  <a:solidFill>
                    <a:srgbClr val="A86D2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2100" b="0">
                  <a:solidFill>
                    <a:srgbClr val="A86D2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ψᵢ = (1 − αᵢ) Varₚ(fˢᵢ)</a:t>
              </a:r>
              <a:endParaRPr sz="2100" b="0">
                <a:solidFill>
                  <a:srgbClr val="A86D27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686" name="05_SAMPLING__exploration"/>
            <p:cNvSpPr/>
            <p:nvPr/>
          </p:nvSpPr>
          <p:spPr>
            <a:xfrm>
              <a:off x="12487275" y="7629525"/>
              <a:ext cx="2143125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75" b="0">
                  <a:solidFill>
                    <a:srgbClr val="54657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75" b="0">
                  <a:solidFill>
                    <a:srgbClr val="54657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Initial exploration</a:t>
              </a:r>
              <a:endParaRPr sz="1875" b="0">
                <a:solidFill>
                  <a:srgbClr val="54657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01" name="08_ROUTES__predictions_to_planning_port1"/>
            <p:cNvSpPr/>
            <p:nvPr/>
          </p:nvSpPr>
          <p:spPr>
            <a:xfrm>
              <a:off x="13505498" y="579977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04" name="08_ROUTES__posterior_to_planning_port1"/>
            <p:cNvSpPr/>
            <p:nvPr/>
          </p:nvSpPr>
          <p:spPr>
            <a:xfrm>
              <a:off x="9990773" y="7199948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06" name="08_ROUTES__move_and_resample_port0"/>
            <p:cNvSpPr/>
            <p:nvPr/>
          </p:nvSpPr>
          <p:spPr>
            <a:xfrm>
              <a:off x="12581573" y="856202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</p:grpSp>
      <p:sp>
        <p:nvSpPr>
          <p:cNvPr id="707" name="08_ROUTES__move_and_resample_port1"/>
          <p:cNvSpPr/>
          <p:nvPr/>
        </p:nvSpPr>
        <p:spPr>
          <a:xfrm>
            <a:off x="12581573" y="90668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08" name="08_ROUTES__move_and_resample_port2"/>
          <p:cNvSpPr/>
          <p:nvPr/>
        </p:nvSpPr>
        <p:spPr>
          <a:xfrm>
            <a:off x="189548" y="90668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09" name="08_ROUTES__move_and_resample_port3"/>
          <p:cNvSpPr/>
          <p:nvPr/>
        </p:nvSpPr>
        <p:spPr>
          <a:xfrm>
            <a:off x="189548" y="3094673"/>
            <a:ext cx="1905" cy="1905"/>
          </a:xfrm>
          <a:prstGeom prst="rect">
            <a:avLst/>
          </a:prstGeom>
          <a:noFill/>
          <a:ln w="0">
            <a:noFill/>
          </a:ln>
        </p:spPr>
      </p:sp>
      <p:grpSp>
        <p:nvGrpSpPr>
          <p:cNvPr id="471" name="02_MEASURED_ASSEMBLY"/>
          <p:cNvGrpSpPr/>
          <p:nvPr/>
        </p:nvGrpSpPr>
        <p:grpSpPr>
          <a:xfrm>
            <a:off x="370523" y="1057275"/>
            <a:ext cx="5534977" cy="4372928"/>
            <a:chOff x="370523" y="1057275"/>
            <a:chExt cx="5534977" cy="4372928"/>
          </a:xfrm>
        </p:grpSpPr>
        <p:sp>
          <p:nvSpPr>
            <p:cNvPr id="2" name="01_REGIONS__measured_panel"/>
            <p:cNvSpPr/>
            <p:nvPr/>
          </p:nvSpPr>
          <p:spPr>
            <a:xfrm>
              <a:off x="381000" y="1057275"/>
              <a:ext cx="5524500" cy="4371975"/>
            </a:xfrm>
            <a:prstGeom prst="roundRect">
              <a:avLst>
                <a:gd name="adj" fmla="val 3922"/>
              </a:avLst>
            </a:prstGeom>
            <a:solidFill>
              <a:srgbClr val="F0F5FA"/>
            </a:solidFill>
            <a:ln w="0">
              <a:noFill/>
            </a:ln>
          </p:spPr>
        </p:sp>
        <p:sp>
          <p:nvSpPr>
            <p:cNvPr id="3" name="02_MEASURED__measured_letter"/>
            <p:cNvSpPr/>
            <p:nvPr/>
          </p:nvSpPr>
          <p:spPr>
            <a:xfrm>
              <a:off x="590550" y="1238250"/>
              <a:ext cx="295275" cy="3524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75" b="1">
                  <a:solidFill>
                    <a:srgbClr val="326D9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2175" b="1">
                  <a:solidFill>
                    <a:srgbClr val="326D9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sz="2175" b="1">
                <a:solidFill>
                  <a:srgbClr val="326D9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02_MEASURED__measured_heading"/>
            <p:cNvSpPr/>
            <p:nvPr/>
          </p:nvSpPr>
          <p:spPr>
            <a:xfrm>
              <a:off x="971550" y="1238250"/>
              <a:ext cx="4714875" cy="3524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75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2175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Measured environment</a:t>
              </a:r>
              <a:endParaRPr sz="2175" b="1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" name="02_MEASURED__gas_label"/>
            <p:cNvSpPr/>
            <p:nvPr/>
          </p:nvSpPr>
          <p:spPr>
            <a:xfrm>
              <a:off x="638175" y="1752600"/>
              <a:ext cx="2219325" cy="3143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950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950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Gas readings</a:t>
              </a:r>
              <a:endParaRPr sz="1950" b="1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469" name="02_MEASURED__component_gas"/>
            <p:cNvGrpSpPr/>
            <p:nvPr/>
          </p:nvGrpSpPr>
          <p:grpSpPr>
            <a:xfrm>
              <a:off x="685800" y="2276475"/>
              <a:ext cx="1752600" cy="457200"/>
              <a:chOff x="685800" y="2276475"/>
              <a:chExt cx="1752600" cy="457200"/>
            </a:xfrm>
          </p:grpSpPr>
          <p:sp>
            <p:nvSpPr>
              <p:cNvPr id="6" name="02_MEASURED__gas_axis"/>
              <p:cNvSpPr/>
              <p:nvPr/>
            </p:nvSpPr>
            <p:spPr>
              <a:xfrm>
                <a:off x="685800" y="2276475"/>
                <a:ext cx="1752600" cy="457200"/>
              </a:xfrm>
              <a:custGeom>
                <a:avLst/>
                <a:gdLst/>
                <a:ahLst/>
                <a:cxnLst/>
                <a:rect l="0" t="0" r="0" b="0"/>
                <a:pathLst>
                  <a:path w="1752600" h="457200">
                    <a:moveTo>
                      <a:pt x="0" y="0"/>
                    </a:moveTo>
                    <a:lnTo>
                      <a:pt x="0" y="457200"/>
                    </a:lnTo>
                    <a:lnTo>
                      <a:pt x="1752600" y="457200"/>
                    </a:lnTo>
                  </a:path>
                </a:pathLst>
              </a:custGeom>
              <a:noFill/>
              <a:ln w="12383">
                <a:solidFill>
                  <a:srgbClr val="B6C4CC"/>
                </a:solidFill>
                <a:prstDash val="solid"/>
              </a:ln>
            </p:spPr>
          </p:sp>
          <p:sp>
            <p:nvSpPr>
              <p:cNvPr id="7" name="02_MEASURED__gas_threshold"/>
              <p:cNvSpPr/>
              <p:nvPr/>
            </p:nvSpPr>
            <p:spPr>
              <a:xfrm>
                <a:off x="704850" y="2514600"/>
                <a:ext cx="1733550" cy="1905"/>
              </a:xfrm>
              <a:custGeom>
                <a:avLst/>
                <a:gdLst/>
                <a:ahLst/>
                <a:cxnLst/>
                <a:rect l="0" t="0" r="0" b="0"/>
                <a:pathLst>
                  <a:path w="1733550" h="1905">
                    <a:moveTo>
                      <a:pt x="0" y="0"/>
                    </a:moveTo>
                    <a:lnTo>
                      <a:pt x="1733550" y="0"/>
                    </a:lnTo>
                  </a:path>
                </a:pathLst>
              </a:custGeom>
              <a:noFill/>
              <a:ln w="11430">
                <a:solidFill>
                  <a:srgbClr val="546572"/>
                </a:solidFill>
                <a:prstDash val="dash"/>
              </a:ln>
            </p:spPr>
          </p:sp>
          <p:sp>
            <p:nvSpPr>
              <p:cNvPr id="8" name="02_MEASURED__gas_trace"/>
              <p:cNvSpPr/>
              <p:nvPr/>
            </p:nvSpPr>
            <p:spPr>
              <a:xfrm>
                <a:off x="704850" y="2315242"/>
                <a:ext cx="1714500" cy="358426"/>
              </a:xfrm>
              <a:custGeom>
                <a:avLst/>
                <a:gdLst/>
                <a:ahLst/>
                <a:cxnLst/>
                <a:rect l="0" t="0" r="0" b="0"/>
                <a:pathLst>
                  <a:path w="1714500" h="358426">
                    <a:moveTo>
                      <a:pt x="0" y="353378"/>
                    </a:moveTo>
                    <a:lnTo>
                      <a:pt x="114300" y="343281"/>
                    </a:lnTo>
                    <a:lnTo>
                      <a:pt x="228600" y="318040"/>
                    </a:lnTo>
                    <a:lnTo>
                      <a:pt x="342900" y="65627"/>
                    </a:lnTo>
                    <a:lnTo>
                      <a:pt x="457200" y="0"/>
                    </a:lnTo>
                    <a:lnTo>
                      <a:pt x="571500" y="242316"/>
                    </a:lnTo>
                    <a:lnTo>
                      <a:pt x="685800" y="348329"/>
                    </a:lnTo>
                    <a:lnTo>
                      <a:pt x="800100" y="358426"/>
                    </a:lnTo>
                    <a:lnTo>
                      <a:pt x="914400" y="191833"/>
                    </a:lnTo>
                    <a:lnTo>
                      <a:pt x="1028700" y="30290"/>
                    </a:lnTo>
                    <a:lnTo>
                      <a:pt x="1143000" y="121158"/>
                    </a:lnTo>
                    <a:lnTo>
                      <a:pt x="1257300" y="333185"/>
                    </a:lnTo>
                    <a:lnTo>
                      <a:pt x="1371600" y="353378"/>
                    </a:lnTo>
                    <a:lnTo>
                      <a:pt x="1485900" y="323088"/>
                    </a:lnTo>
                    <a:lnTo>
                      <a:pt x="1600200" y="75724"/>
                    </a:lnTo>
                    <a:lnTo>
                      <a:pt x="1714500" y="161544"/>
                    </a:lnTo>
                  </a:path>
                </a:pathLst>
              </a:custGeom>
              <a:noFill/>
              <a:ln w="26670">
                <a:solidFill>
                  <a:srgbClr val="326D9A"/>
                </a:solidFill>
                <a:prstDash val="solid"/>
              </a:ln>
            </p:spPr>
          </p:sp>
        </p:grpSp>
        <p:sp>
          <p:nvSpPr>
            <p:cNvPr id="9" name="02_MEASURED__events_label"/>
            <p:cNvSpPr/>
            <p:nvPr/>
          </p:nvSpPr>
          <p:spPr>
            <a:xfrm>
              <a:off x="657225" y="2895600"/>
              <a:ext cx="1047750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75" b="0">
                  <a:solidFill>
                    <a:srgbClr val="54657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75" b="0">
                  <a:solidFill>
                    <a:srgbClr val="54657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Hit / miss</a:t>
              </a:r>
              <a:endParaRPr sz="1875" b="0">
                <a:solidFill>
                  <a:srgbClr val="54657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02_MEASURED__event0"/>
            <p:cNvSpPr/>
            <p:nvPr/>
          </p:nvSpPr>
          <p:spPr>
            <a:xfrm>
              <a:off x="1704975" y="3000375"/>
              <a:ext cx="66675" cy="104775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326D9A"/>
              </a:solidFill>
            </a:ln>
          </p:spPr>
        </p:sp>
        <p:sp>
          <p:nvSpPr>
            <p:cNvPr id="11" name="02_MEASURED__event1"/>
            <p:cNvSpPr/>
            <p:nvPr/>
          </p:nvSpPr>
          <p:spPr>
            <a:xfrm>
              <a:off x="1800225" y="3000375"/>
              <a:ext cx="66675" cy="104775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326D9A"/>
              </a:solidFill>
            </a:ln>
          </p:spPr>
        </p:sp>
        <p:sp>
          <p:nvSpPr>
            <p:cNvPr id="12" name="02_MEASURED__event2"/>
            <p:cNvSpPr/>
            <p:nvPr/>
          </p:nvSpPr>
          <p:spPr>
            <a:xfrm>
              <a:off x="1895475" y="3000375"/>
              <a:ext cx="66675" cy="104775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326D9A"/>
              </a:solidFill>
            </a:ln>
          </p:spPr>
        </p:sp>
        <p:sp>
          <p:nvSpPr>
            <p:cNvPr id="13" name="02_MEASURED__event3"/>
            <p:cNvSpPr/>
            <p:nvPr/>
          </p:nvSpPr>
          <p:spPr>
            <a:xfrm>
              <a:off x="1990725" y="3000375"/>
              <a:ext cx="66675" cy="104775"/>
            </a:xfrm>
            <a:prstGeom prst="rect">
              <a:avLst/>
            </a:prstGeom>
            <a:solidFill>
              <a:srgbClr val="326D9A"/>
            </a:solidFill>
            <a:ln w="7620">
              <a:solidFill>
                <a:srgbClr val="326D9A"/>
              </a:solidFill>
            </a:ln>
          </p:spPr>
        </p:sp>
        <p:sp>
          <p:nvSpPr>
            <p:cNvPr id="14" name="02_MEASURED__event4"/>
            <p:cNvSpPr/>
            <p:nvPr/>
          </p:nvSpPr>
          <p:spPr>
            <a:xfrm>
              <a:off x="2085975" y="3000375"/>
              <a:ext cx="66675" cy="104775"/>
            </a:xfrm>
            <a:prstGeom prst="rect">
              <a:avLst/>
            </a:prstGeom>
            <a:solidFill>
              <a:srgbClr val="326D9A"/>
            </a:solidFill>
            <a:ln w="7620">
              <a:solidFill>
                <a:srgbClr val="326D9A"/>
              </a:solidFill>
            </a:ln>
          </p:spPr>
        </p:sp>
        <p:sp>
          <p:nvSpPr>
            <p:cNvPr id="15" name="02_MEASURED__event5"/>
            <p:cNvSpPr/>
            <p:nvPr/>
          </p:nvSpPr>
          <p:spPr>
            <a:xfrm>
              <a:off x="2181225" y="3000375"/>
              <a:ext cx="66675" cy="104775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326D9A"/>
              </a:solidFill>
            </a:ln>
          </p:spPr>
        </p:sp>
        <p:sp>
          <p:nvSpPr>
            <p:cNvPr id="16" name="02_MEASURED__event6"/>
            <p:cNvSpPr/>
            <p:nvPr/>
          </p:nvSpPr>
          <p:spPr>
            <a:xfrm>
              <a:off x="2276475" y="3000375"/>
              <a:ext cx="66675" cy="104775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326D9A"/>
              </a:solidFill>
            </a:ln>
          </p:spPr>
        </p:sp>
        <p:sp>
          <p:nvSpPr>
            <p:cNvPr id="17" name="02_MEASURED__event7"/>
            <p:cNvSpPr/>
            <p:nvPr/>
          </p:nvSpPr>
          <p:spPr>
            <a:xfrm>
              <a:off x="2371725" y="3000375"/>
              <a:ext cx="66675" cy="104775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326D9A"/>
              </a:solidFill>
            </a:ln>
          </p:spPr>
        </p:sp>
        <p:sp>
          <p:nvSpPr>
            <p:cNvPr id="18" name="02_MEASURED__pose_label"/>
            <p:cNvSpPr/>
            <p:nvPr/>
          </p:nvSpPr>
          <p:spPr>
            <a:xfrm>
              <a:off x="638175" y="3371850"/>
              <a:ext cx="2238375" cy="3143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75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75" b="1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Robot positions</a:t>
              </a:r>
              <a:endParaRPr sz="1875" b="1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470" name="02_MEASURED__component_poses"/>
            <p:cNvGrpSpPr/>
            <p:nvPr/>
          </p:nvGrpSpPr>
          <p:grpSpPr>
            <a:xfrm>
              <a:off x="669608" y="3717608"/>
              <a:ext cx="1680210" cy="480060"/>
              <a:chOff x="669608" y="3717608"/>
              <a:chExt cx="1680210" cy="480060"/>
            </a:xfrm>
          </p:grpSpPr>
          <p:sp>
            <p:nvSpPr>
              <p:cNvPr id="19" name="02_MEASURED__poses_track"/>
              <p:cNvSpPr/>
              <p:nvPr/>
            </p:nvSpPr>
            <p:spPr>
              <a:xfrm>
                <a:off x="709613" y="3757613"/>
                <a:ext cx="1600200" cy="400050"/>
              </a:xfrm>
              <a:custGeom>
                <a:avLst/>
                <a:gdLst/>
                <a:ahLst/>
                <a:cxnLst/>
                <a:rect l="0" t="0" r="0" b="0"/>
                <a:pathLst>
                  <a:path w="1600200" h="400050">
                    <a:moveTo>
                      <a:pt x="0" y="400050"/>
                    </a:moveTo>
                    <a:lnTo>
                      <a:pt x="400050" y="400050"/>
                    </a:lnTo>
                    <a:lnTo>
                      <a:pt x="600075" y="200025"/>
                    </a:lnTo>
                    <a:lnTo>
                      <a:pt x="1000125" y="200025"/>
                    </a:lnTo>
                    <a:lnTo>
                      <a:pt x="1400175" y="0"/>
                    </a:lnTo>
                    <a:lnTo>
                      <a:pt x="1600200" y="200025"/>
                    </a:lnTo>
                  </a:path>
                </a:pathLst>
              </a:custGeom>
              <a:noFill/>
              <a:ln w="23813">
                <a:solidFill>
                  <a:srgbClr val="326D9A"/>
                </a:solidFill>
                <a:prstDash val="solid"/>
              </a:ln>
            </p:spPr>
          </p:sp>
          <p:sp>
            <p:nvSpPr>
              <p:cNvPr id="20" name="02_MEASURED__poses_sample0"/>
              <p:cNvSpPr/>
              <p:nvPr/>
            </p:nvSpPr>
            <p:spPr>
              <a:xfrm>
                <a:off x="669608" y="4117658"/>
                <a:ext cx="80010" cy="8001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326D9A"/>
                </a:solidFill>
              </a:ln>
            </p:spPr>
          </p:sp>
          <p:sp>
            <p:nvSpPr>
              <p:cNvPr id="21" name="02_MEASURED__poses_sample1"/>
              <p:cNvSpPr/>
              <p:nvPr/>
            </p:nvSpPr>
            <p:spPr>
              <a:xfrm>
                <a:off x="1069658" y="4117658"/>
                <a:ext cx="80010" cy="8001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326D9A"/>
                </a:solidFill>
              </a:ln>
            </p:spPr>
          </p:sp>
          <p:sp>
            <p:nvSpPr>
              <p:cNvPr id="22" name="02_MEASURED__poses_sample2"/>
              <p:cNvSpPr/>
              <p:nvPr/>
            </p:nvSpPr>
            <p:spPr>
              <a:xfrm>
                <a:off x="1269683" y="3917633"/>
                <a:ext cx="80010" cy="8001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326D9A"/>
                </a:solidFill>
              </a:ln>
            </p:spPr>
          </p:sp>
          <p:sp>
            <p:nvSpPr>
              <p:cNvPr id="23" name="02_MEASURED__poses_sample3"/>
              <p:cNvSpPr/>
              <p:nvPr/>
            </p:nvSpPr>
            <p:spPr>
              <a:xfrm>
                <a:off x="1669733" y="3917633"/>
                <a:ext cx="80010" cy="8001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326D9A"/>
                </a:solidFill>
              </a:ln>
            </p:spPr>
          </p:sp>
          <p:sp>
            <p:nvSpPr>
              <p:cNvPr id="24" name="02_MEASURED__poses_sample4"/>
              <p:cNvSpPr/>
              <p:nvPr/>
            </p:nvSpPr>
            <p:spPr>
              <a:xfrm>
                <a:off x="2069783" y="3717608"/>
                <a:ext cx="80010" cy="8001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326D9A"/>
                </a:solidFill>
              </a:ln>
            </p:spPr>
          </p:sp>
          <p:sp>
            <p:nvSpPr>
              <p:cNvPr id="25" name="02_MEASURED__poses_sample5"/>
              <p:cNvSpPr/>
              <p:nvPr/>
            </p:nvSpPr>
            <p:spPr>
              <a:xfrm>
                <a:off x="2269808" y="3917633"/>
                <a:ext cx="80010" cy="8001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326D9A"/>
                </a:solidFill>
              </a:ln>
            </p:spPr>
          </p:sp>
        </p:grpSp>
        <p:sp>
          <p:nvSpPr>
            <p:cNvPr id="26" name="02_MEASURED__observed_map_title"/>
            <p:cNvSpPr/>
            <p:nvPr/>
          </p:nvSpPr>
          <p:spPr>
            <a:xfrm>
              <a:off x="3009900" y="1752600"/>
              <a:ext cx="2714625" cy="3143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75" b="1">
                  <a:solidFill>
                    <a:srgbClr val="326D9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75" b="1">
                  <a:solidFill>
                    <a:srgbClr val="326D9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Gas-hit probability</a:t>
              </a:r>
              <a:endParaRPr sz="1875" b="1">
                <a:solidFill>
                  <a:srgbClr val="326D9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108" name="02_MEASURED__component_observed"/>
            <p:cNvGrpSpPr/>
            <p:nvPr/>
          </p:nvGrpSpPr>
          <p:grpSpPr>
            <a:xfrm>
              <a:off x="3028950" y="2219325"/>
              <a:ext cx="2476500" cy="1733550"/>
              <a:chOff x="3028950" y="2219325"/>
              <a:chExt cx="2476500" cy="1733550"/>
            </a:xfrm>
          </p:grpSpPr>
          <p:sp>
            <p:nvSpPr>
              <p:cNvPr id="27" name="02_MEASURED__observed_r0c0"/>
              <p:cNvSpPr/>
              <p:nvPr/>
            </p:nvSpPr>
            <p:spPr>
              <a:xfrm>
                <a:off x="3028950" y="2219325"/>
                <a:ext cx="247650" cy="247650"/>
              </a:xfrm>
              <a:prstGeom prst="rect">
                <a:avLst/>
              </a:prstGeom>
              <a:solidFill>
                <a:srgbClr val="E4ECF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8" name="02_MEASURED__observed_r0c1"/>
              <p:cNvSpPr/>
              <p:nvPr/>
            </p:nvSpPr>
            <p:spPr>
              <a:xfrm>
                <a:off x="3276600" y="2219325"/>
                <a:ext cx="247650" cy="247650"/>
              </a:xfrm>
              <a:prstGeom prst="rect">
                <a:avLst/>
              </a:prstGeom>
              <a:solidFill>
                <a:srgbClr val="E3EBF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29" name="02_MEASURED__observed_r0c2"/>
              <p:cNvSpPr/>
              <p:nvPr/>
            </p:nvSpPr>
            <p:spPr>
              <a:xfrm>
                <a:off x="3524250" y="2219325"/>
                <a:ext cx="247650" cy="247650"/>
              </a:xfrm>
              <a:prstGeom prst="rect">
                <a:avLst/>
              </a:prstGeom>
              <a:solidFill>
                <a:srgbClr val="E2EBF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0" name="02_MEASURED__observed_r0c3"/>
              <p:cNvSpPr/>
              <p:nvPr/>
            </p:nvSpPr>
            <p:spPr>
              <a:xfrm>
                <a:off x="3771900" y="2219325"/>
                <a:ext cx="247650" cy="247650"/>
              </a:xfrm>
              <a:prstGeom prst="rect">
                <a:avLst/>
              </a:prstGeom>
              <a:solidFill>
                <a:srgbClr val="E1E9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1" name="02_MEASURED__observed_r0c4"/>
              <p:cNvSpPr/>
              <p:nvPr/>
            </p:nvSpPr>
            <p:spPr>
              <a:xfrm>
                <a:off x="4019550" y="2219325"/>
                <a:ext cx="247650" cy="2476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2" name="02_MEASURED__observed_r0c5"/>
              <p:cNvSpPr/>
              <p:nvPr/>
            </p:nvSpPr>
            <p:spPr>
              <a:xfrm>
                <a:off x="4267200" y="2219325"/>
                <a:ext cx="247650" cy="247650"/>
              </a:xfrm>
              <a:prstGeom prst="rect">
                <a:avLst/>
              </a:prstGeom>
              <a:solidFill>
                <a:srgbClr val="DDE7ED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3" name="02_MEASURED__observed_r0c6"/>
              <p:cNvSpPr/>
              <p:nvPr/>
            </p:nvSpPr>
            <p:spPr>
              <a:xfrm>
                <a:off x="4514850" y="2219325"/>
                <a:ext cx="247650" cy="247650"/>
              </a:xfrm>
              <a:prstGeom prst="rect">
                <a:avLst/>
              </a:prstGeom>
              <a:solidFill>
                <a:srgbClr val="DCE6ED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4" name="02_MEASURED__observed_r0c7"/>
              <p:cNvSpPr/>
              <p:nvPr/>
            </p:nvSpPr>
            <p:spPr>
              <a:xfrm>
                <a:off x="4762500" y="2219325"/>
                <a:ext cx="247650" cy="247650"/>
              </a:xfrm>
              <a:prstGeom prst="rect">
                <a:avLst/>
              </a:prstGeom>
              <a:solidFill>
                <a:srgbClr val="DDE7ED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5" name="02_MEASURED__observed_r0c8"/>
              <p:cNvSpPr/>
              <p:nvPr/>
            </p:nvSpPr>
            <p:spPr>
              <a:xfrm>
                <a:off x="5010150" y="2219325"/>
                <a:ext cx="247650" cy="247650"/>
              </a:xfrm>
              <a:prstGeom prst="rect">
                <a:avLst/>
              </a:prstGeom>
              <a:solidFill>
                <a:srgbClr val="DFE8EE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6" name="02_MEASURED__observed_r0c9"/>
              <p:cNvSpPr/>
              <p:nvPr/>
            </p:nvSpPr>
            <p:spPr>
              <a:xfrm>
                <a:off x="5257800" y="2219325"/>
                <a:ext cx="247650" cy="247650"/>
              </a:xfrm>
              <a:prstGeom prst="rect">
                <a:avLst/>
              </a:prstGeom>
              <a:solidFill>
                <a:srgbClr val="E1EA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7" name="02_MEASURED__observed_r1c0"/>
              <p:cNvSpPr/>
              <p:nvPr/>
            </p:nvSpPr>
            <p:spPr>
              <a:xfrm>
                <a:off x="3028950" y="2466975"/>
                <a:ext cx="247650" cy="247650"/>
              </a:xfrm>
              <a:prstGeom prst="rect">
                <a:avLst/>
              </a:prstGeom>
              <a:solidFill>
                <a:srgbClr val="E3EBF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8" name="02_MEASURED__observed_r1c1"/>
              <p:cNvSpPr/>
              <p:nvPr/>
            </p:nvSpPr>
            <p:spPr>
              <a:xfrm>
                <a:off x="3276600" y="2466975"/>
                <a:ext cx="247650" cy="247650"/>
              </a:xfrm>
              <a:prstGeom prst="rect">
                <a:avLst/>
              </a:prstGeom>
              <a:solidFill>
                <a:srgbClr val="E1E9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39" name="02_MEASURED__observed_r1c2"/>
              <p:cNvSpPr/>
              <p:nvPr/>
            </p:nvSpPr>
            <p:spPr>
              <a:xfrm>
                <a:off x="3524250" y="2466975"/>
                <a:ext cx="247650" cy="247650"/>
              </a:xfrm>
              <a:prstGeom prst="rect">
                <a:avLst/>
              </a:prstGeom>
              <a:solidFill>
                <a:srgbClr val="DCE6E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0" name="02_MEASURED__observed_r1c3"/>
              <p:cNvSpPr/>
              <p:nvPr/>
            </p:nvSpPr>
            <p:spPr>
              <a:xfrm>
                <a:off x="3771900" y="2466975"/>
                <a:ext cx="247650" cy="247650"/>
              </a:xfrm>
              <a:prstGeom prst="rect">
                <a:avLst/>
              </a:prstGeom>
              <a:solidFill>
                <a:srgbClr val="D4E0E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1" name="02_MEASURED__observed_r1c4"/>
              <p:cNvSpPr/>
              <p:nvPr/>
            </p:nvSpPr>
            <p:spPr>
              <a:xfrm>
                <a:off x="4019550" y="2466975"/>
                <a:ext cx="247650" cy="2476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2" name="02_MEASURED__observed_r1c5"/>
              <p:cNvSpPr/>
              <p:nvPr/>
            </p:nvSpPr>
            <p:spPr>
              <a:xfrm>
                <a:off x="4267200" y="2466975"/>
                <a:ext cx="247650" cy="247650"/>
              </a:xfrm>
              <a:prstGeom prst="rect">
                <a:avLst/>
              </a:prstGeom>
              <a:solidFill>
                <a:srgbClr val="C3D4E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3" name="02_MEASURED__observed_r1c6"/>
              <p:cNvSpPr/>
              <p:nvPr/>
            </p:nvSpPr>
            <p:spPr>
              <a:xfrm>
                <a:off x="4514850" y="2466975"/>
                <a:ext cx="247650" cy="247650"/>
              </a:xfrm>
              <a:prstGeom prst="rect">
                <a:avLst/>
              </a:prstGeom>
              <a:solidFill>
                <a:srgbClr val="C1D3D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4" name="02_MEASURED__observed_r1c7"/>
              <p:cNvSpPr/>
              <p:nvPr/>
            </p:nvSpPr>
            <p:spPr>
              <a:xfrm>
                <a:off x="4762500" y="2466975"/>
                <a:ext cx="247650" cy="247650"/>
              </a:xfrm>
              <a:prstGeom prst="rect">
                <a:avLst/>
              </a:prstGeom>
              <a:solidFill>
                <a:srgbClr val="C5D6E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5" name="02_MEASURED__observed_r1c8"/>
              <p:cNvSpPr/>
              <p:nvPr/>
            </p:nvSpPr>
            <p:spPr>
              <a:xfrm>
                <a:off x="5010150" y="2466975"/>
                <a:ext cx="247650" cy="247650"/>
              </a:xfrm>
              <a:prstGeom prst="rect">
                <a:avLst/>
              </a:prstGeom>
              <a:solidFill>
                <a:srgbClr val="CEDCE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6" name="02_MEASURED__observed_r1c9"/>
              <p:cNvSpPr/>
              <p:nvPr/>
            </p:nvSpPr>
            <p:spPr>
              <a:xfrm>
                <a:off x="5257800" y="2466975"/>
                <a:ext cx="247650" cy="247650"/>
              </a:xfrm>
              <a:prstGeom prst="rect">
                <a:avLst/>
              </a:prstGeom>
              <a:solidFill>
                <a:srgbClr val="D7E3E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7" name="02_MEASURED__observed_r2c0"/>
              <p:cNvSpPr/>
              <p:nvPr/>
            </p:nvSpPr>
            <p:spPr>
              <a:xfrm>
                <a:off x="3028950" y="2714625"/>
                <a:ext cx="247650" cy="247650"/>
              </a:xfrm>
              <a:prstGeom prst="rect">
                <a:avLst/>
              </a:prstGeom>
              <a:solidFill>
                <a:srgbClr val="E1EA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8" name="02_MEASURED__observed_r2c1"/>
              <p:cNvSpPr/>
              <p:nvPr/>
            </p:nvSpPr>
            <p:spPr>
              <a:xfrm>
                <a:off x="3276600" y="2714625"/>
                <a:ext cx="247650" cy="247650"/>
              </a:xfrm>
              <a:prstGeom prst="rect">
                <a:avLst/>
              </a:prstGeom>
              <a:solidFill>
                <a:srgbClr val="DBE5E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49" name="02_MEASURED__observed_r2c2"/>
              <p:cNvSpPr/>
              <p:nvPr/>
            </p:nvSpPr>
            <p:spPr>
              <a:xfrm>
                <a:off x="3524250" y="2714625"/>
                <a:ext cx="247650" cy="247650"/>
              </a:xfrm>
              <a:prstGeom prst="rect">
                <a:avLst/>
              </a:prstGeom>
              <a:solidFill>
                <a:srgbClr val="CEDCE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0" name="02_MEASURED__observed_r2c3"/>
              <p:cNvSpPr/>
              <p:nvPr/>
            </p:nvSpPr>
            <p:spPr>
              <a:xfrm>
                <a:off x="3771900" y="2714625"/>
                <a:ext cx="247650" cy="247650"/>
              </a:xfrm>
              <a:prstGeom prst="rect">
                <a:avLst/>
              </a:prstGeom>
              <a:solidFill>
                <a:srgbClr val="B9CDD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1" name="02_MEASURED__observed_r2c4"/>
              <p:cNvSpPr/>
              <p:nvPr/>
            </p:nvSpPr>
            <p:spPr>
              <a:xfrm>
                <a:off x="4019550" y="2714625"/>
                <a:ext cx="247650" cy="2476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2" name="02_MEASURED__observed_r2c5"/>
              <p:cNvSpPr/>
              <p:nvPr/>
            </p:nvSpPr>
            <p:spPr>
              <a:xfrm>
                <a:off x="4267200" y="2714625"/>
                <a:ext cx="247650" cy="247650"/>
              </a:xfrm>
              <a:prstGeom prst="rect">
                <a:avLst/>
              </a:prstGeom>
              <a:solidFill>
                <a:srgbClr val="8CADC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3" name="02_MEASURED__observed_r2c6"/>
              <p:cNvSpPr/>
              <p:nvPr/>
            </p:nvSpPr>
            <p:spPr>
              <a:xfrm>
                <a:off x="4514850" y="2714625"/>
                <a:ext cx="247650" cy="247650"/>
              </a:xfrm>
              <a:prstGeom prst="rect">
                <a:avLst/>
              </a:prstGeom>
              <a:solidFill>
                <a:srgbClr val="87A9C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4" name="02_MEASURED__observed_r2c7"/>
              <p:cNvSpPr/>
              <p:nvPr/>
            </p:nvSpPr>
            <p:spPr>
              <a:xfrm>
                <a:off x="4762500" y="2714625"/>
                <a:ext cx="247650" cy="247650"/>
              </a:xfrm>
              <a:prstGeom prst="rect">
                <a:avLst/>
              </a:prstGeom>
              <a:solidFill>
                <a:srgbClr val="93B2C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5" name="02_MEASURED__observed_r2c8"/>
              <p:cNvSpPr/>
              <p:nvPr/>
            </p:nvSpPr>
            <p:spPr>
              <a:xfrm>
                <a:off x="5010150" y="2714625"/>
                <a:ext cx="247650" cy="247650"/>
              </a:xfrm>
              <a:prstGeom prst="rect">
                <a:avLst/>
              </a:prstGeom>
              <a:solidFill>
                <a:srgbClr val="AAC3D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6" name="02_MEASURED__observed_r2c9"/>
              <p:cNvSpPr/>
              <p:nvPr/>
            </p:nvSpPr>
            <p:spPr>
              <a:xfrm>
                <a:off x="5257800" y="2714625"/>
                <a:ext cx="247650" cy="247650"/>
              </a:xfrm>
              <a:prstGeom prst="rect">
                <a:avLst/>
              </a:prstGeom>
              <a:solidFill>
                <a:srgbClr val="C2D4E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7" name="02_MEASURED__observed_r3c0"/>
              <p:cNvSpPr/>
              <p:nvPr/>
            </p:nvSpPr>
            <p:spPr>
              <a:xfrm>
                <a:off x="3028950" y="2962275"/>
                <a:ext cx="247650" cy="247650"/>
              </a:xfrm>
              <a:prstGeom prst="rect">
                <a:avLst/>
              </a:prstGeom>
              <a:solidFill>
                <a:srgbClr val="DFE8EE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8" name="02_MEASURED__observed_r3c1"/>
              <p:cNvSpPr/>
              <p:nvPr/>
            </p:nvSpPr>
            <p:spPr>
              <a:xfrm>
                <a:off x="3276600" y="2962275"/>
                <a:ext cx="247650" cy="247650"/>
              </a:xfrm>
              <a:prstGeom prst="rect">
                <a:avLst/>
              </a:prstGeom>
              <a:solidFill>
                <a:srgbClr val="D6E2E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59" name="02_MEASURED__observed_r3c2"/>
              <p:cNvSpPr/>
              <p:nvPr/>
            </p:nvSpPr>
            <p:spPr>
              <a:xfrm>
                <a:off x="3524250" y="2962275"/>
                <a:ext cx="247650" cy="247650"/>
              </a:xfrm>
              <a:prstGeom prst="rect">
                <a:avLst/>
              </a:prstGeom>
              <a:solidFill>
                <a:srgbClr val="C2D4E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0" name="02_MEASURED__observed_r3c3"/>
              <p:cNvSpPr/>
              <p:nvPr/>
            </p:nvSpPr>
            <p:spPr>
              <a:xfrm>
                <a:off x="3771900" y="2962275"/>
                <a:ext cx="247650" cy="247650"/>
              </a:xfrm>
              <a:prstGeom prst="rect">
                <a:avLst/>
              </a:prstGeom>
              <a:solidFill>
                <a:srgbClr val="A2BDD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1" name="02_MEASURED__observed_r3c4"/>
              <p:cNvSpPr/>
              <p:nvPr/>
            </p:nvSpPr>
            <p:spPr>
              <a:xfrm>
                <a:off x="4019550" y="2962275"/>
                <a:ext cx="247650" cy="247650"/>
              </a:xfrm>
              <a:prstGeom prst="rect">
                <a:avLst/>
              </a:prstGeom>
              <a:solidFill>
                <a:srgbClr val="7BA1BE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2" name="02_MEASURED__observed_r3c5"/>
              <p:cNvSpPr/>
              <p:nvPr/>
            </p:nvSpPr>
            <p:spPr>
              <a:xfrm>
                <a:off x="4267200" y="2962275"/>
                <a:ext cx="247650" cy="247650"/>
              </a:xfrm>
              <a:prstGeom prst="rect">
                <a:avLst/>
              </a:prstGeom>
              <a:solidFill>
                <a:srgbClr val="5C8BAE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3" name="02_MEASURED__observed_r3c6"/>
              <p:cNvSpPr/>
              <p:nvPr/>
            </p:nvSpPr>
            <p:spPr>
              <a:xfrm>
                <a:off x="4514850" y="2962275"/>
                <a:ext cx="247650" cy="247650"/>
              </a:xfrm>
              <a:prstGeom prst="rect">
                <a:avLst/>
              </a:prstGeom>
              <a:solidFill>
                <a:srgbClr val="5485A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4" name="02_MEASURED__observed_r3c7"/>
              <p:cNvSpPr/>
              <p:nvPr/>
            </p:nvSpPr>
            <p:spPr>
              <a:xfrm>
                <a:off x="4762500" y="2962275"/>
                <a:ext cx="247650" cy="247650"/>
              </a:xfrm>
              <a:prstGeom prst="rect">
                <a:avLst/>
              </a:prstGeom>
              <a:solidFill>
                <a:srgbClr val="6793B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5" name="02_MEASURED__observed_r3c8"/>
              <p:cNvSpPr/>
              <p:nvPr/>
            </p:nvSpPr>
            <p:spPr>
              <a:xfrm>
                <a:off x="5010150" y="2962275"/>
                <a:ext cx="247650" cy="247650"/>
              </a:xfrm>
              <a:prstGeom prst="rect">
                <a:avLst/>
              </a:prstGeom>
              <a:solidFill>
                <a:srgbClr val="8BACC5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6" name="02_MEASURED__observed_r3c9"/>
              <p:cNvSpPr/>
              <p:nvPr/>
            </p:nvSpPr>
            <p:spPr>
              <a:xfrm>
                <a:off x="5257800" y="2962275"/>
                <a:ext cx="247650" cy="247650"/>
              </a:xfrm>
              <a:prstGeom prst="rect">
                <a:avLst/>
              </a:prstGeom>
              <a:solidFill>
                <a:srgbClr val="B0C7D7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7" name="02_MEASURED__observed_r4c0"/>
              <p:cNvSpPr/>
              <p:nvPr/>
            </p:nvSpPr>
            <p:spPr>
              <a:xfrm>
                <a:off x="3028950" y="3209925"/>
                <a:ext cx="247650" cy="247650"/>
              </a:xfrm>
              <a:prstGeom prst="rect">
                <a:avLst/>
              </a:prstGeom>
              <a:solidFill>
                <a:srgbClr val="E0E9EE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8" name="02_MEASURED__observed_r4c1"/>
              <p:cNvSpPr/>
              <p:nvPr/>
            </p:nvSpPr>
            <p:spPr>
              <a:xfrm>
                <a:off x="3276600" y="3209925"/>
                <a:ext cx="247650" cy="247650"/>
              </a:xfrm>
              <a:prstGeom prst="rect">
                <a:avLst/>
              </a:prstGeom>
              <a:solidFill>
                <a:srgbClr val="D7E3E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69" name="02_MEASURED__observed_r4c2"/>
              <p:cNvSpPr/>
              <p:nvPr/>
            </p:nvSpPr>
            <p:spPr>
              <a:xfrm>
                <a:off x="3524250" y="3209925"/>
                <a:ext cx="247650" cy="247650"/>
              </a:xfrm>
              <a:prstGeom prst="rect">
                <a:avLst/>
              </a:prstGeom>
              <a:solidFill>
                <a:srgbClr val="C6D6E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70" name="02_MEASURED__observed_r4c3"/>
              <p:cNvSpPr/>
              <p:nvPr/>
            </p:nvSpPr>
            <p:spPr>
              <a:xfrm>
                <a:off x="3771900" y="3209925"/>
                <a:ext cx="247650" cy="247650"/>
              </a:xfrm>
              <a:prstGeom prst="rect">
                <a:avLst/>
              </a:prstGeom>
              <a:solidFill>
                <a:srgbClr val="A9C2D4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71" name="02_MEASURED__observed_r4c4"/>
              <p:cNvSpPr/>
              <p:nvPr/>
            </p:nvSpPr>
            <p:spPr>
              <a:xfrm>
                <a:off x="4019550" y="3209925"/>
                <a:ext cx="247650" cy="247650"/>
              </a:xfrm>
              <a:prstGeom prst="rect">
                <a:avLst/>
              </a:prstGeom>
              <a:solidFill>
                <a:srgbClr val="86A9C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72" name="02_MEASURED__observed_r4c5"/>
              <p:cNvSpPr/>
              <p:nvPr/>
            </p:nvSpPr>
            <p:spPr>
              <a:xfrm>
                <a:off x="4267200" y="3209925"/>
                <a:ext cx="247650" cy="247650"/>
              </a:xfrm>
              <a:prstGeom prst="rect">
                <a:avLst/>
              </a:prstGeom>
              <a:solidFill>
                <a:srgbClr val="6A95B5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73" name="02_MEASURED__observed_r4c6"/>
              <p:cNvSpPr/>
              <p:nvPr/>
            </p:nvSpPr>
            <p:spPr>
              <a:xfrm>
                <a:off x="4514850" y="3209925"/>
                <a:ext cx="247650" cy="247650"/>
              </a:xfrm>
              <a:prstGeom prst="rect">
                <a:avLst/>
              </a:prstGeom>
              <a:solidFill>
                <a:srgbClr val="6390B2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74" name="02_MEASURED__observed_r4c7"/>
              <p:cNvSpPr/>
              <p:nvPr/>
            </p:nvSpPr>
            <p:spPr>
              <a:xfrm>
                <a:off x="4762500" y="3209925"/>
                <a:ext cx="247650" cy="247650"/>
              </a:xfrm>
              <a:prstGeom prst="rect">
                <a:avLst/>
              </a:prstGeom>
              <a:solidFill>
                <a:srgbClr val="749CB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75" name="02_MEASURED__observed_r4c8"/>
              <p:cNvSpPr/>
              <p:nvPr/>
            </p:nvSpPr>
            <p:spPr>
              <a:xfrm>
                <a:off x="5010150" y="3209925"/>
                <a:ext cx="247650" cy="247650"/>
              </a:xfrm>
              <a:prstGeom prst="rect">
                <a:avLst/>
              </a:prstGeom>
              <a:solidFill>
                <a:srgbClr val="94B3C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76" name="02_MEASURED__observed_r4c9"/>
              <p:cNvSpPr/>
              <p:nvPr/>
            </p:nvSpPr>
            <p:spPr>
              <a:xfrm>
                <a:off x="5257800" y="3209925"/>
                <a:ext cx="247650" cy="247650"/>
              </a:xfrm>
              <a:prstGeom prst="rect">
                <a:avLst/>
              </a:prstGeom>
              <a:solidFill>
                <a:srgbClr val="B5CBD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77" name="02_MEASURED__observed_r5c0"/>
              <p:cNvSpPr/>
              <p:nvPr/>
            </p:nvSpPr>
            <p:spPr>
              <a:xfrm>
                <a:off x="3028950" y="3457575"/>
                <a:ext cx="247650" cy="247650"/>
              </a:xfrm>
              <a:prstGeom prst="rect">
                <a:avLst/>
              </a:prstGeom>
              <a:solidFill>
                <a:srgbClr val="E2EA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78" name="02_MEASURED__observed_r5c1"/>
              <p:cNvSpPr/>
              <p:nvPr/>
            </p:nvSpPr>
            <p:spPr>
              <a:xfrm>
                <a:off x="3276600" y="3457575"/>
                <a:ext cx="247650" cy="247650"/>
              </a:xfrm>
              <a:prstGeom prst="rect">
                <a:avLst/>
              </a:prstGeom>
              <a:solidFill>
                <a:srgbClr val="DDE7ED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79" name="02_MEASURED__observed_r5c2"/>
              <p:cNvSpPr/>
              <p:nvPr/>
            </p:nvSpPr>
            <p:spPr>
              <a:xfrm>
                <a:off x="3524250" y="3457575"/>
                <a:ext cx="247650" cy="247650"/>
              </a:xfrm>
              <a:prstGeom prst="rect">
                <a:avLst/>
              </a:prstGeom>
              <a:solidFill>
                <a:srgbClr val="D4E0E9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80" name="02_MEASURED__observed_r5c3"/>
              <p:cNvSpPr/>
              <p:nvPr/>
            </p:nvSpPr>
            <p:spPr>
              <a:xfrm>
                <a:off x="3771900" y="3457575"/>
                <a:ext cx="247650" cy="247650"/>
              </a:xfrm>
              <a:prstGeom prst="rect">
                <a:avLst/>
              </a:prstGeom>
              <a:solidFill>
                <a:srgbClr val="C5D6E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81" name="02_MEASURED__observed_r5c4"/>
              <p:cNvSpPr/>
              <p:nvPr/>
            </p:nvSpPr>
            <p:spPr>
              <a:xfrm>
                <a:off x="4019550" y="3457575"/>
                <a:ext cx="247650" cy="2476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82" name="02_MEASURED__observed_r5c5"/>
              <p:cNvSpPr/>
              <p:nvPr/>
            </p:nvSpPr>
            <p:spPr>
              <a:xfrm>
                <a:off x="4267200" y="3457575"/>
                <a:ext cx="247650" cy="247650"/>
              </a:xfrm>
              <a:prstGeom prst="rect">
                <a:avLst/>
              </a:prstGeom>
              <a:solidFill>
                <a:srgbClr val="A4BED1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83" name="02_MEASURED__observed_r5c6"/>
              <p:cNvSpPr/>
              <p:nvPr/>
            </p:nvSpPr>
            <p:spPr>
              <a:xfrm>
                <a:off x="4514850" y="3457575"/>
                <a:ext cx="247650" cy="247650"/>
              </a:xfrm>
              <a:prstGeom prst="rect">
                <a:avLst/>
              </a:prstGeom>
              <a:solidFill>
                <a:srgbClr val="A0BCD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84" name="02_MEASURED__observed_r5c7"/>
              <p:cNvSpPr/>
              <p:nvPr/>
            </p:nvSpPr>
            <p:spPr>
              <a:xfrm>
                <a:off x="4762500" y="3457575"/>
                <a:ext cx="247650" cy="2476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85" name="02_MEASURED__observed_r5c8"/>
              <p:cNvSpPr/>
              <p:nvPr/>
            </p:nvSpPr>
            <p:spPr>
              <a:xfrm>
                <a:off x="5010150" y="3457575"/>
                <a:ext cx="247650" cy="2476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86" name="02_MEASURED__observed_r5c9"/>
              <p:cNvSpPr/>
              <p:nvPr/>
            </p:nvSpPr>
            <p:spPr>
              <a:xfrm>
                <a:off x="5257800" y="3457575"/>
                <a:ext cx="247650" cy="2476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87" name="02_MEASURED__observed_r6c0"/>
              <p:cNvSpPr/>
              <p:nvPr/>
            </p:nvSpPr>
            <p:spPr>
              <a:xfrm>
                <a:off x="3028950" y="3705225"/>
                <a:ext cx="247650" cy="247650"/>
              </a:xfrm>
              <a:prstGeom prst="rect">
                <a:avLst/>
              </a:prstGeom>
              <a:solidFill>
                <a:srgbClr val="E3EBF0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88" name="02_MEASURED__observed_r6c1"/>
              <p:cNvSpPr/>
              <p:nvPr/>
            </p:nvSpPr>
            <p:spPr>
              <a:xfrm>
                <a:off x="3276600" y="3705225"/>
                <a:ext cx="247650" cy="247650"/>
              </a:xfrm>
              <a:prstGeom prst="rect">
                <a:avLst/>
              </a:prstGeom>
              <a:solidFill>
                <a:srgbClr val="E2EAEF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89" name="02_MEASURED__observed_r6c2"/>
              <p:cNvSpPr/>
              <p:nvPr/>
            </p:nvSpPr>
            <p:spPr>
              <a:xfrm>
                <a:off x="3524250" y="3705225"/>
                <a:ext cx="247650" cy="247650"/>
              </a:xfrm>
              <a:prstGeom prst="rect">
                <a:avLst/>
              </a:prstGeom>
              <a:solidFill>
                <a:srgbClr val="DFE8EE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90" name="02_MEASURED__observed_r6c3"/>
              <p:cNvSpPr/>
              <p:nvPr/>
            </p:nvSpPr>
            <p:spPr>
              <a:xfrm>
                <a:off x="3771900" y="3705225"/>
                <a:ext cx="247650" cy="247650"/>
              </a:xfrm>
              <a:prstGeom prst="rect">
                <a:avLst/>
              </a:prstGeom>
              <a:solidFill>
                <a:srgbClr val="DBE5EC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91" name="02_MEASURED__observed_r6c4"/>
              <p:cNvSpPr/>
              <p:nvPr/>
            </p:nvSpPr>
            <p:spPr>
              <a:xfrm>
                <a:off x="4019550" y="3705225"/>
                <a:ext cx="247650" cy="247650"/>
              </a:xfrm>
              <a:prstGeom prst="rect">
                <a:avLst/>
              </a:prstGeom>
              <a:solidFill>
                <a:srgbClr val="606C73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92" name="02_MEASURED__observed_r6c5"/>
              <p:cNvSpPr/>
              <p:nvPr/>
            </p:nvSpPr>
            <p:spPr>
              <a:xfrm>
                <a:off x="4267200" y="3705225"/>
                <a:ext cx="247650" cy="247650"/>
              </a:xfrm>
              <a:prstGeom prst="rect">
                <a:avLst/>
              </a:prstGeom>
              <a:solidFill>
                <a:srgbClr val="D1DEE7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93" name="02_MEASURED__observed_r6c6"/>
              <p:cNvSpPr/>
              <p:nvPr/>
            </p:nvSpPr>
            <p:spPr>
              <a:xfrm>
                <a:off x="4514850" y="3705225"/>
                <a:ext cx="247650" cy="247650"/>
              </a:xfrm>
              <a:prstGeom prst="rect">
                <a:avLst/>
              </a:prstGeom>
              <a:solidFill>
                <a:srgbClr val="D0DDE6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94" name="02_MEASURED__observed_r6c7"/>
              <p:cNvSpPr/>
              <p:nvPr/>
            </p:nvSpPr>
            <p:spPr>
              <a:xfrm>
                <a:off x="4762500" y="3705225"/>
                <a:ext cx="247650" cy="247650"/>
              </a:xfrm>
              <a:prstGeom prst="rect">
                <a:avLst/>
              </a:prstGeom>
              <a:solidFill>
                <a:srgbClr val="D2DFE8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95" name="02_MEASURED__observed_r6c8"/>
              <p:cNvSpPr/>
              <p:nvPr/>
            </p:nvSpPr>
            <p:spPr>
              <a:xfrm>
                <a:off x="5010150" y="3705225"/>
                <a:ext cx="247650" cy="247650"/>
              </a:xfrm>
              <a:prstGeom prst="rect">
                <a:avLst/>
              </a:prstGeom>
              <a:solidFill>
                <a:srgbClr val="D7E3EA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96" name="02_MEASURED__observed_r6c9"/>
              <p:cNvSpPr/>
              <p:nvPr/>
            </p:nvSpPr>
            <p:spPr>
              <a:xfrm>
                <a:off x="5257800" y="3705225"/>
                <a:ext cx="247650" cy="247650"/>
              </a:xfrm>
              <a:prstGeom prst="rect">
                <a:avLst/>
              </a:prstGeom>
              <a:solidFill>
                <a:srgbClr val="DDE7ED"/>
              </a:solidFill>
              <a:ln w="7620">
                <a:solidFill>
                  <a:srgbClr val="FFFFFF"/>
                </a:solidFill>
              </a:ln>
            </p:spPr>
          </p:sp>
          <p:sp>
            <p:nvSpPr>
              <p:cNvPr id="97" name="02_MEASURED__observed_frame"/>
              <p:cNvSpPr/>
              <p:nvPr/>
            </p:nvSpPr>
            <p:spPr>
              <a:xfrm>
                <a:off x="3028950" y="2219325"/>
                <a:ext cx="2476500" cy="1733550"/>
              </a:xfrm>
              <a:prstGeom prst="rect">
                <a:avLst/>
              </a:prstGeom>
              <a:noFill/>
              <a:ln w="10478">
                <a:solidFill>
                  <a:srgbClr val="B6C4CC"/>
                </a:solidFill>
              </a:ln>
            </p:spPr>
          </p:sp>
        </p:grpSp>
        <p:grpSp>
          <p:nvGrpSpPr>
            <p:cNvPr id="317" name="02_MEASURED__component_map_measurements"/>
            <p:cNvGrpSpPr/>
            <p:nvPr/>
          </p:nvGrpSpPr>
          <p:grpSpPr>
            <a:xfrm>
              <a:off x="3360420" y="2798445"/>
              <a:ext cx="1813560" cy="575310"/>
              <a:chOff x="3360420" y="2798445"/>
              <a:chExt cx="1813560" cy="575310"/>
            </a:xfrm>
          </p:grpSpPr>
          <p:sp>
            <p:nvSpPr>
              <p:cNvPr id="98" name="02_MEASURED__map_measurements_track"/>
              <p:cNvSpPr/>
              <p:nvPr/>
            </p:nvSpPr>
            <p:spPr>
              <a:xfrm>
                <a:off x="3400425" y="2838450"/>
                <a:ext cx="1733550" cy="495300"/>
              </a:xfrm>
              <a:custGeom>
                <a:avLst/>
                <a:gdLst/>
                <a:ahLst/>
                <a:cxnLst/>
                <a:rect l="0" t="0" r="0" b="0"/>
                <a:pathLst>
                  <a:path w="1733550" h="495300">
                    <a:moveTo>
                      <a:pt x="0" y="495300"/>
                    </a:moveTo>
                    <a:lnTo>
                      <a:pt x="247650" y="495300"/>
                    </a:lnTo>
                    <a:lnTo>
                      <a:pt x="495300" y="247650"/>
                    </a:lnTo>
                    <a:lnTo>
                      <a:pt x="990600" y="247650"/>
                    </a:lnTo>
                    <a:lnTo>
                      <a:pt x="1238250" y="0"/>
                    </a:lnTo>
                    <a:lnTo>
                      <a:pt x="1733550" y="0"/>
                    </a:lnTo>
                  </a:path>
                </a:pathLst>
              </a:custGeom>
              <a:noFill/>
              <a:ln w="23813">
                <a:solidFill>
                  <a:srgbClr val="233440"/>
                </a:solidFill>
                <a:prstDash val="solid"/>
              </a:ln>
            </p:spPr>
          </p:sp>
          <p:sp>
            <p:nvSpPr>
              <p:cNvPr id="99" name="02_MEASURED__map_measurements_sample0"/>
              <p:cNvSpPr/>
              <p:nvPr/>
            </p:nvSpPr>
            <p:spPr>
              <a:xfrm>
                <a:off x="3360420" y="3293745"/>
                <a:ext cx="80010" cy="8001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233440"/>
                </a:solidFill>
              </a:ln>
            </p:spPr>
          </p:sp>
          <p:sp>
            <p:nvSpPr>
              <p:cNvPr id="100" name="02_MEASURED__map_measurements_sample1"/>
              <p:cNvSpPr/>
              <p:nvPr/>
            </p:nvSpPr>
            <p:spPr>
              <a:xfrm>
                <a:off x="3608070" y="3293745"/>
                <a:ext cx="80010" cy="8001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233440"/>
                </a:solidFill>
              </a:ln>
            </p:spPr>
          </p:sp>
          <p:sp>
            <p:nvSpPr>
              <p:cNvPr id="101" name="02_MEASURED__map_measurements_sample2"/>
              <p:cNvSpPr/>
              <p:nvPr/>
            </p:nvSpPr>
            <p:spPr>
              <a:xfrm>
                <a:off x="3855720" y="3046095"/>
                <a:ext cx="80010" cy="8001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233440"/>
                </a:solidFill>
              </a:ln>
            </p:spPr>
          </p:sp>
          <p:sp>
            <p:nvSpPr>
              <p:cNvPr id="102" name="02_MEASURED__map_measurements_sample3"/>
              <p:cNvSpPr/>
              <p:nvPr/>
            </p:nvSpPr>
            <p:spPr>
              <a:xfrm>
                <a:off x="4351020" y="3046095"/>
                <a:ext cx="80010" cy="8001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233440"/>
                </a:solidFill>
              </a:ln>
            </p:spPr>
          </p:sp>
          <p:sp>
            <p:nvSpPr>
              <p:cNvPr id="103" name="02_MEASURED__map_measurements_sample4"/>
              <p:cNvSpPr/>
              <p:nvPr/>
            </p:nvSpPr>
            <p:spPr>
              <a:xfrm>
                <a:off x="4598670" y="2798445"/>
                <a:ext cx="80010" cy="8001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233440"/>
                </a:solidFill>
              </a:ln>
            </p:spPr>
          </p:sp>
          <p:sp>
            <p:nvSpPr>
              <p:cNvPr id="104" name="02_MEASURED__map_measurements_sample5"/>
              <p:cNvSpPr/>
              <p:nvPr/>
            </p:nvSpPr>
            <p:spPr>
              <a:xfrm>
                <a:off x="5093970" y="2798445"/>
                <a:ext cx="80010" cy="8001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233440"/>
                </a:solidFill>
              </a:ln>
            </p:spPr>
          </p:sp>
        </p:grpSp>
        <p:sp>
          <p:nvSpPr>
            <p:cNvPr id="105" name="02_MEASURED__f_observed"/>
            <p:cNvSpPr/>
            <p:nvPr/>
          </p:nvSpPr>
          <p:spPr>
            <a:xfrm>
              <a:off x="2794635" y="4220210"/>
              <a:ext cx="2714625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025" b="0">
                  <a:solidFill>
                    <a:srgbClr val="326D9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2025" b="0">
                  <a:solidFill>
                    <a:srgbClr val="326D9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fᶻᵢ = p(Hᵢ | Z)</a:t>
              </a:r>
              <a:endParaRPr sz="2025" b="0">
                <a:solidFill>
                  <a:srgbClr val="326D9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6" name="08_ROUTES__observations_to_map_port0"/>
            <p:cNvSpPr/>
            <p:nvPr/>
          </p:nvSpPr>
          <p:spPr>
            <a:xfrm>
              <a:off x="2599373" y="3085148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107" name="08_ROUTES__observations_to_map_port1"/>
            <p:cNvSpPr/>
            <p:nvPr/>
          </p:nvSpPr>
          <p:spPr>
            <a:xfrm>
              <a:off x="2856548" y="3085148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cxnSp>
          <p:nvCxnSpPr>
            <p:cNvPr id="828" name="08_ROUTES__observations_to_map_segment0"/>
            <p:cNvCxnSpPr>
              <a:stCxn id="106" idx="3"/>
              <a:endCxn id="107" idx="1"/>
            </p:cNvCxnSpPr>
            <p:nvPr/>
          </p:nvCxnSpPr>
          <p:spPr>
            <a:xfrm>
              <a:off x="2601278" y="3086101"/>
              <a:ext cx="255270" cy="0"/>
            </a:xfrm>
            <a:prstGeom prst="straightConnector1">
              <a:avLst/>
            </a:prstGeom>
            <a:ln w="22860">
              <a:solidFill>
                <a:srgbClr val="326D9A"/>
              </a:solidFill>
              <a:headEnd type="none"/>
              <a:tailEnd type="triangle" w="med" len="med"/>
            </a:ln>
          </p:spPr>
        </p:cxnSp>
        <p:sp>
          <p:nvSpPr>
            <p:cNvPr id="109" name="02_MEASURED__confidence_title"/>
            <p:cNvSpPr/>
            <p:nvPr/>
          </p:nvSpPr>
          <p:spPr>
            <a:xfrm>
              <a:off x="628650" y="4819650"/>
              <a:ext cx="2924175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75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875" b="0">
                  <a:solidFill>
                    <a:srgbClr val="23344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Sampling confidence αᵢ</a:t>
              </a:r>
              <a:endParaRPr sz="1875" b="0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10" name="02_MEASURED__confidence0"/>
            <p:cNvSpPr/>
            <p:nvPr/>
          </p:nvSpPr>
          <p:spPr>
            <a:xfrm>
              <a:off x="3562350" y="4886325"/>
              <a:ext cx="238125" cy="200025"/>
            </a:xfrm>
            <a:prstGeom prst="rect">
              <a:avLst/>
            </a:prstGeom>
            <a:solidFill>
              <a:srgbClr val="F3F6F9"/>
            </a:solidFill>
            <a:ln w="6668">
              <a:solidFill>
                <a:srgbClr val="FFFFFF"/>
              </a:solidFill>
            </a:ln>
          </p:spPr>
        </p:sp>
        <p:sp>
          <p:nvSpPr>
            <p:cNvPr id="111" name="02_MEASURED__confidence1"/>
            <p:cNvSpPr/>
            <p:nvPr/>
          </p:nvSpPr>
          <p:spPr>
            <a:xfrm>
              <a:off x="3829050" y="4886325"/>
              <a:ext cx="238125" cy="200025"/>
            </a:xfrm>
            <a:prstGeom prst="rect">
              <a:avLst/>
            </a:prstGeom>
            <a:solidFill>
              <a:srgbClr val="D3DFE9"/>
            </a:solidFill>
            <a:ln w="6668">
              <a:solidFill>
                <a:srgbClr val="FFFFFF"/>
              </a:solidFill>
            </a:ln>
          </p:spPr>
        </p:sp>
        <p:sp>
          <p:nvSpPr>
            <p:cNvPr id="112" name="02_MEASURED__confidence2"/>
            <p:cNvSpPr/>
            <p:nvPr/>
          </p:nvSpPr>
          <p:spPr>
            <a:xfrm>
              <a:off x="4095750" y="4886325"/>
              <a:ext cx="238125" cy="200025"/>
            </a:xfrm>
            <a:prstGeom prst="rect">
              <a:avLst/>
            </a:prstGeom>
            <a:solidFill>
              <a:srgbClr val="B3C8D9"/>
            </a:solidFill>
            <a:ln w="6668">
              <a:solidFill>
                <a:srgbClr val="FFFFFF"/>
              </a:solidFill>
            </a:ln>
          </p:spPr>
        </p:sp>
        <p:sp>
          <p:nvSpPr>
            <p:cNvPr id="113" name="02_MEASURED__confidence3"/>
            <p:cNvSpPr/>
            <p:nvPr/>
          </p:nvSpPr>
          <p:spPr>
            <a:xfrm>
              <a:off x="4362450" y="4886325"/>
              <a:ext cx="238125" cy="200025"/>
            </a:xfrm>
            <a:prstGeom prst="rect">
              <a:avLst/>
            </a:prstGeom>
            <a:solidFill>
              <a:srgbClr val="93B2CA"/>
            </a:solidFill>
            <a:ln w="6668">
              <a:solidFill>
                <a:srgbClr val="FFFFFF"/>
              </a:solidFill>
            </a:ln>
          </p:spPr>
        </p:sp>
        <p:sp>
          <p:nvSpPr>
            <p:cNvPr id="114" name="02_MEASURED__confidence4"/>
            <p:cNvSpPr/>
            <p:nvPr/>
          </p:nvSpPr>
          <p:spPr>
            <a:xfrm>
              <a:off x="4629150" y="4886325"/>
              <a:ext cx="238125" cy="200025"/>
            </a:xfrm>
            <a:prstGeom prst="rect">
              <a:avLst/>
            </a:prstGeom>
            <a:solidFill>
              <a:srgbClr val="729BBA"/>
            </a:solidFill>
            <a:ln w="6668">
              <a:solidFill>
                <a:srgbClr val="FFFFFF"/>
              </a:solidFill>
            </a:ln>
          </p:spPr>
        </p:sp>
        <p:sp>
          <p:nvSpPr>
            <p:cNvPr id="115" name="02_MEASURED__confidence5"/>
            <p:cNvSpPr/>
            <p:nvPr/>
          </p:nvSpPr>
          <p:spPr>
            <a:xfrm>
              <a:off x="4895850" y="4886325"/>
              <a:ext cx="238125" cy="200025"/>
            </a:xfrm>
            <a:prstGeom prst="rect">
              <a:avLst/>
            </a:prstGeom>
            <a:solidFill>
              <a:srgbClr val="5284AA"/>
            </a:solidFill>
            <a:ln w="6668">
              <a:solidFill>
                <a:srgbClr val="FFFFFF"/>
              </a:solidFill>
            </a:ln>
          </p:spPr>
        </p:sp>
        <p:sp>
          <p:nvSpPr>
            <p:cNvPr id="116" name="02_MEASURED__confidence6"/>
            <p:cNvSpPr/>
            <p:nvPr/>
          </p:nvSpPr>
          <p:spPr>
            <a:xfrm>
              <a:off x="5162550" y="4886325"/>
              <a:ext cx="238125" cy="200025"/>
            </a:xfrm>
            <a:prstGeom prst="rect">
              <a:avLst/>
            </a:prstGeom>
            <a:solidFill>
              <a:srgbClr val="326D9A"/>
            </a:solidFill>
            <a:ln w="6668">
              <a:solidFill>
                <a:srgbClr val="FFFFFF"/>
              </a:solidFill>
            </a:ln>
          </p:spPr>
        </p:sp>
        <p:sp>
          <p:nvSpPr>
            <p:cNvPr id="688" name="08_ROUTES__context_to_mapping_port1"/>
            <p:cNvSpPr/>
            <p:nvPr/>
          </p:nvSpPr>
          <p:spPr>
            <a:xfrm>
              <a:off x="5514023" y="296132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90" name="08_ROUTES__measured_to_comparison_port0"/>
            <p:cNvSpPr/>
            <p:nvPr/>
          </p:nvSpPr>
          <p:spPr>
            <a:xfrm>
              <a:off x="3056573" y="5428298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10" name="08_ROUTES__move_and_resample_port4"/>
            <p:cNvSpPr/>
            <p:nvPr/>
          </p:nvSpPr>
          <p:spPr>
            <a:xfrm>
              <a:off x="370523" y="3094673"/>
              <a:ext cx="1905" cy="1905"/>
            </a:xfrm>
            <a:prstGeom prst="rect">
              <a:avLst/>
            </a:prstGeom>
            <a:noFill/>
            <a:ln w="0">
              <a:noFill/>
            </a:ln>
          </p:spPr>
        </p:sp>
      </p:grpSp>
      <p:sp>
        <p:nvSpPr>
          <p:cNvPr id="715" name="09_LEGEND__feedback_label"/>
          <p:cNvSpPr/>
          <p:nvPr/>
        </p:nvSpPr>
        <p:spPr>
          <a:xfrm>
            <a:off x="3886200" y="8648700"/>
            <a:ext cx="73818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0">
                <a:solidFill>
                  <a:srgbClr val="233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Move, sample gas and wind, update maps</a:t>
            </a:r>
            <a:endParaRPr sz="2025" b="0">
              <a:solidFill>
                <a:srgbClr val="233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16" name="09_LEGEND__disclosure"/>
          <p:cNvSpPr/>
          <p:nvPr/>
        </p:nvSpPr>
        <p:spPr>
          <a:xfrm>
            <a:off x="381000" y="9182100"/>
            <a:ext cx="10001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54657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54657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Schematic maps  ·  Original PMFS, IEEE T-RO 2024</a:t>
            </a:r>
            <a:endParaRPr sz="1575" b="0">
              <a:solidFill>
                <a:srgbClr val="54657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17" name="09_LEGEND__wall_legend"/>
          <p:cNvSpPr/>
          <p:nvPr/>
        </p:nvSpPr>
        <p:spPr>
          <a:xfrm>
            <a:off x="12239625" y="9229725"/>
            <a:ext cx="171450" cy="171450"/>
          </a:xfrm>
          <a:prstGeom prst="rect">
            <a:avLst/>
          </a:prstGeom>
          <a:solidFill>
            <a:srgbClr val="606C73"/>
          </a:solidFill>
          <a:ln w="0">
            <a:noFill/>
          </a:ln>
        </p:spPr>
      </p:sp>
      <p:sp>
        <p:nvSpPr>
          <p:cNvPr id="718" name="09_LEGEND__wall_label"/>
          <p:cNvSpPr/>
          <p:nvPr/>
        </p:nvSpPr>
        <p:spPr>
          <a:xfrm>
            <a:off x="12477750" y="9144000"/>
            <a:ext cx="10096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54657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54657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Obstacle</a:t>
            </a:r>
            <a:endParaRPr sz="1575" b="0">
              <a:solidFill>
                <a:srgbClr val="54657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19" name="09_LEGEND__position_legend"/>
          <p:cNvSpPr/>
          <p:nvPr/>
        </p:nvSpPr>
        <p:spPr>
          <a:xfrm>
            <a:off x="13620750" y="9267825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33440"/>
            </a:solidFill>
          </a:ln>
        </p:spPr>
      </p:sp>
      <p:sp>
        <p:nvSpPr>
          <p:cNvPr id="720" name="09_LEGEND__position_label"/>
          <p:cNvSpPr/>
          <p:nvPr/>
        </p:nvSpPr>
        <p:spPr>
          <a:xfrm>
            <a:off x="13792200" y="9144000"/>
            <a:ext cx="1066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54657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54657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Sample</a:t>
            </a:r>
            <a:endParaRPr sz="1575" b="0">
              <a:solidFill>
                <a:srgbClr val="54657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1409" name="08_ROUTES__context_to_mapping_segment0"/>
          <p:cNvCxnSpPr>
            <a:stCxn id="687" idx="1"/>
            <a:endCxn id="688" idx="3"/>
          </p:cNvCxnSpPr>
          <p:nvPr/>
        </p:nvCxnSpPr>
        <p:spPr>
          <a:xfrm flipH="1">
            <a:off x="5515928" y="2962276"/>
            <a:ext cx="969645" cy="0"/>
          </a:xfrm>
          <a:prstGeom prst="straightConnector1">
            <a:avLst/>
          </a:prstGeom>
          <a:ln w="20955">
            <a:solidFill>
              <a:srgbClr val="26847D"/>
            </a:solidFill>
            <a:headEnd type="none"/>
            <a:tailEnd type="triangle" w="med" len="med"/>
          </a:ln>
        </p:spPr>
      </p:cxnSp>
      <p:cxnSp>
        <p:nvCxnSpPr>
          <p:cNvPr id="1412" name="08_ROUTES__measured_to_comparison_segment0"/>
          <p:cNvCxnSpPr>
            <a:stCxn id="690" idx="2"/>
            <a:endCxn id="691" idx="0"/>
          </p:cNvCxnSpPr>
          <p:nvPr/>
        </p:nvCxnSpPr>
        <p:spPr>
          <a:xfrm>
            <a:off x="3057526" y="5430203"/>
            <a:ext cx="0" cy="369570"/>
          </a:xfrm>
          <a:prstGeom prst="straightConnector1">
            <a:avLst/>
          </a:prstGeom>
          <a:ln w="26670">
            <a:solidFill>
              <a:srgbClr val="326D9A"/>
            </a:solidFill>
            <a:headEnd type="none"/>
            <a:tailEnd type="triangle" w="med" len="med"/>
          </a:ln>
        </p:spPr>
      </p:cxnSp>
      <p:cxnSp>
        <p:nvCxnSpPr>
          <p:cNvPr id="1417" name="08_ROUTES__predictions_to_comparison_segment0"/>
          <p:cNvCxnSpPr>
            <a:stCxn id="693" idx="2"/>
            <a:endCxn id="694" idx="0"/>
          </p:cNvCxnSpPr>
          <p:nvPr/>
        </p:nvCxnSpPr>
        <p:spPr>
          <a:xfrm>
            <a:off x="9163051" y="5430203"/>
            <a:ext cx="0" cy="188595"/>
          </a:xfrm>
          <a:prstGeom prst="straightConnector1">
            <a:avLst/>
          </a:prstGeom>
          <a:ln w="26670">
            <a:solidFill>
              <a:srgbClr val="26847D"/>
            </a:solidFill>
            <a:headEnd type="none"/>
            <a:tailEnd type="none" w="med" len="med"/>
          </a:ln>
        </p:spPr>
      </p:cxnSp>
      <p:cxnSp>
        <p:nvCxnSpPr>
          <p:cNvPr id="1418" name="08_ROUTES__predictions_to_comparison_segment1"/>
          <p:cNvCxnSpPr>
            <a:stCxn id="694" idx="1"/>
            <a:endCxn id="695" idx="3"/>
          </p:cNvCxnSpPr>
          <p:nvPr/>
        </p:nvCxnSpPr>
        <p:spPr>
          <a:xfrm flipH="1">
            <a:off x="6201728" y="5619751"/>
            <a:ext cx="2960370" cy="0"/>
          </a:xfrm>
          <a:prstGeom prst="straightConnector1">
            <a:avLst/>
          </a:prstGeom>
          <a:ln w="26670">
            <a:solidFill>
              <a:srgbClr val="26847D"/>
            </a:solidFill>
            <a:headEnd type="none"/>
            <a:tailEnd type="none" w="med" len="med"/>
          </a:ln>
        </p:spPr>
      </p:cxnSp>
      <p:cxnSp>
        <p:nvCxnSpPr>
          <p:cNvPr id="1419" name="08_ROUTES__predictions_to_comparison_segment2"/>
          <p:cNvCxnSpPr>
            <a:stCxn id="695" idx="2"/>
            <a:endCxn id="696" idx="0"/>
          </p:cNvCxnSpPr>
          <p:nvPr/>
        </p:nvCxnSpPr>
        <p:spPr>
          <a:xfrm>
            <a:off x="6200776" y="5620703"/>
            <a:ext cx="0" cy="179070"/>
          </a:xfrm>
          <a:prstGeom prst="straightConnector1">
            <a:avLst/>
          </a:prstGeom>
          <a:ln w="26670">
            <a:solidFill>
              <a:srgbClr val="26847D"/>
            </a:solidFill>
            <a:headEnd type="none"/>
            <a:tailEnd type="triangle" w="med" len="med"/>
          </a:ln>
        </p:spPr>
      </p:cxnSp>
      <p:cxnSp>
        <p:nvCxnSpPr>
          <p:cNvPr id="1422" name="08_ROUTES__predictions_to_planning_segment0"/>
          <p:cNvCxnSpPr>
            <a:stCxn id="700" idx="2"/>
            <a:endCxn id="701" idx="0"/>
          </p:cNvCxnSpPr>
          <p:nvPr/>
        </p:nvCxnSpPr>
        <p:spPr>
          <a:xfrm>
            <a:off x="13506451" y="5430203"/>
            <a:ext cx="0" cy="369570"/>
          </a:xfrm>
          <a:prstGeom prst="straightConnector1">
            <a:avLst/>
          </a:prstGeom>
          <a:ln w="26670">
            <a:solidFill>
              <a:srgbClr val="26847D"/>
            </a:solidFill>
            <a:headEnd type="none"/>
            <a:tailEnd type="triangle" w="med" len="med"/>
          </a:ln>
        </p:spPr>
      </p:cxnSp>
      <p:cxnSp>
        <p:nvCxnSpPr>
          <p:cNvPr id="1425" name="08_ROUTES__posterior_to_planning_segment0"/>
          <p:cNvCxnSpPr>
            <a:stCxn id="703" idx="3"/>
            <a:endCxn id="704" idx="1"/>
          </p:cNvCxnSpPr>
          <p:nvPr/>
        </p:nvCxnSpPr>
        <p:spPr>
          <a:xfrm>
            <a:off x="9621203" y="7200901"/>
            <a:ext cx="369570" cy="0"/>
          </a:xfrm>
          <a:prstGeom prst="straightConnector1">
            <a:avLst/>
          </a:prstGeom>
          <a:ln w="26670">
            <a:solidFill>
              <a:srgbClr val="6C648E"/>
            </a:solidFill>
            <a:headEnd type="none"/>
            <a:tailEnd type="triangle" w="med" len="med"/>
          </a:ln>
        </p:spPr>
      </p:cxnSp>
      <p:cxnSp>
        <p:nvCxnSpPr>
          <p:cNvPr id="1431" name="08_ROUTES__move_and_resample_segment0"/>
          <p:cNvCxnSpPr>
            <a:stCxn id="706" idx="2"/>
            <a:endCxn id="707" idx="0"/>
          </p:cNvCxnSpPr>
          <p:nvPr/>
        </p:nvCxnSpPr>
        <p:spPr>
          <a:xfrm>
            <a:off x="12582526" y="8563928"/>
            <a:ext cx="0" cy="502920"/>
          </a:xfrm>
          <a:prstGeom prst="straightConnector1">
            <a:avLst/>
          </a:prstGeom>
          <a:ln w="22860">
            <a:solidFill>
              <a:srgbClr val="233440"/>
            </a:solidFill>
            <a:headEnd type="none"/>
            <a:tailEnd type="none" w="med" len="med"/>
          </a:ln>
        </p:spPr>
      </p:cxnSp>
      <p:cxnSp>
        <p:nvCxnSpPr>
          <p:cNvPr id="1432" name="08_ROUTES__move_and_resample_segment1"/>
          <p:cNvCxnSpPr>
            <a:stCxn id="707" idx="1"/>
            <a:endCxn id="708" idx="3"/>
          </p:cNvCxnSpPr>
          <p:nvPr/>
        </p:nvCxnSpPr>
        <p:spPr>
          <a:xfrm flipH="1">
            <a:off x="191453" y="9067801"/>
            <a:ext cx="12390120" cy="0"/>
          </a:xfrm>
          <a:prstGeom prst="straightConnector1">
            <a:avLst/>
          </a:prstGeom>
          <a:ln w="22860">
            <a:solidFill>
              <a:srgbClr val="233440"/>
            </a:solidFill>
            <a:headEnd type="none"/>
            <a:tailEnd type="none" w="med" len="med"/>
          </a:ln>
        </p:spPr>
      </p:cxnSp>
      <p:cxnSp>
        <p:nvCxnSpPr>
          <p:cNvPr id="1433" name="08_ROUTES__move_and_resample_segment2"/>
          <p:cNvCxnSpPr>
            <a:stCxn id="708" idx="0"/>
            <a:endCxn id="709" idx="2"/>
          </p:cNvCxnSpPr>
          <p:nvPr/>
        </p:nvCxnSpPr>
        <p:spPr>
          <a:xfrm flipV="1">
            <a:off x="190501" y="3096578"/>
            <a:ext cx="0" cy="5970270"/>
          </a:xfrm>
          <a:prstGeom prst="straightConnector1">
            <a:avLst/>
          </a:prstGeom>
          <a:ln w="22860">
            <a:solidFill>
              <a:srgbClr val="233440"/>
            </a:solidFill>
            <a:headEnd type="none"/>
            <a:tailEnd type="none" w="med" len="med"/>
          </a:ln>
        </p:spPr>
      </p:cxnSp>
      <p:cxnSp>
        <p:nvCxnSpPr>
          <p:cNvPr id="1434" name="08_ROUTES__move_and_resample_segment3"/>
          <p:cNvCxnSpPr>
            <a:stCxn id="709" idx="3"/>
            <a:endCxn id="710" idx="1"/>
          </p:cNvCxnSpPr>
          <p:nvPr/>
        </p:nvCxnSpPr>
        <p:spPr>
          <a:xfrm>
            <a:off x="191453" y="3095626"/>
            <a:ext cx="179070" cy="0"/>
          </a:xfrm>
          <a:prstGeom prst="straightConnector1">
            <a:avLst/>
          </a:prstGeom>
          <a:ln w="22860">
            <a:solidFill>
              <a:srgbClr val="233440"/>
            </a:solidFill>
            <a:headEnd type="none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</Words>
  <Application>WPS 演示</Application>
  <PresentationFormat>自定义</PresentationFormat>
  <Paragraphs>84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平安</cp:lastModifiedBy>
  <cp:revision>2</cp:revision>
  <dcterms:created xsi:type="dcterms:W3CDTF">2026-09-15T15:02:00Z</dcterms:created>
  <dcterms:modified xsi:type="dcterms:W3CDTF">2026-09-16T06:43:29Z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C980695349564359A1EBBAC6A3A12CE8_12</vt:lpwstr>
  </property>
  <property fmtid="{D5CDD505-2E9C-101B-9397-08002B2CF9AE}" pid="3" name="KSOProductBuildVer">
    <vt:lpwstr>2052-12.1.0.28505</vt:lpwstr>
  </property>
</Properties>
</file>